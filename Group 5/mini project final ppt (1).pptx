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y="7562850" cx="10693400"/>
  <p:notesSz cx="10693400" cy="756285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628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3600" i="0">
                <a:solidFill>
                  <a:srgbClr val="001F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629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30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31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591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lstStyle>
            <a:lvl1pPr>
              <a:defRPr b="1" sz="3600" i="0">
                <a:solidFill>
                  <a:srgbClr val="001F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59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59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63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3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35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36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37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61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1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1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9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10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303276" y="4484238"/>
            <a:ext cx="493395" cy="3076575"/>
          </a:xfrm>
          <a:custGeom>
            <a:avLst/>
            <a:ahLst/>
            <a:rect l="l" t="t" r="r" b="b"/>
            <a:pathLst>
              <a:path w="493395" h="3076575">
                <a:moveTo>
                  <a:pt x="493344" y="3076325"/>
                </a:moveTo>
                <a:lnTo>
                  <a:pt x="0" y="3076325"/>
                </a:lnTo>
                <a:lnTo>
                  <a:pt x="0" y="0"/>
                </a:lnTo>
                <a:lnTo>
                  <a:pt x="493344" y="3076325"/>
                </a:lnTo>
                <a:close/>
              </a:path>
            </a:pathLst>
          </a:custGeom>
          <a:solidFill>
            <a:srgbClr val="5ECAEF">
              <a:alpha val="6992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5958065" y="0"/>
            <a:ext cx="4429760" cy="7560945"/>
          </a:xfrm>
          <a:custGeom>
            <a:avLst/>
            <a:ahLst/>
            <a:rect l="l" t="t" r="r" b="b"/>
            <a:pathLst>
              <a:path w="4429759" h="7560945">
                <a:moveTo>
                  <a:pt x="4429518" y="4605032"/>
                </a:moveTo>
                <a:lnTo>
                  <a:pt x="3093440" y="5496204"/>
                </a:lnTo>
                <a:lnTo>
                  <a:pt x="2117610" y="0"/>
                </a:lnTo>
                <a:lnTo>
                  <a:pt x="2107704" y="0"/>
                </a:lnTo>
                <a:lnTo>
                  <a:pt x="2106942" y="1524"/>
                </a:lnTo>
                <a:lnTo>
                  <a:pt x="3084665" y="5502072"/>
                </a:lnTo>
                <a:lnTo>
                  <a:pt x="762" y="7559053"/>
                </a:lnTo>
                <a:lnTo>
                  <a:pt x="0" y="7560564"/>
                </a:lnTo>
                <a:lnTo>
                  <a:pt x="16002" y="7560564"/>
                </a:lnTo>
                <a:lnTo>
                  <a:pt x="3086519" y="5512511"/>
                </a:lnTo>
                <a:lnTo>
                  <a:pt x="3450564" y="7560564"/>
                </a:lnTo>
                <a:lnTo>
                  <a:pt x="3459975" y="7560564"/>
                </a:lnTo>
                <a:lnTo>
                  <a:pt x="3095294" y="5506656"/>
                </a:lnTo>
                <a:lnTo>
                  <a:pt x="4429518" y="4616716"/>
                </a:lnTo>
                <a:lnTo>
                  <a:pt x="4429518" y="4605032"/>
                </a:lnTo>
                <a:close/>
              </a:path>
            </a:pathLst>
          </a:custGeom>
          <a:solidFill>
            <a:srgbClr val="5ECAEF">
              <a:alpha val="6992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7904363" y="0"/>
            <a:ext cx="2483485" cy="7560945"/>
          </a:xfrm>
          <a:custGeom>
            <a:avLst/>
            <a:ahLst/>
            <a:rect l="l" t="t" r="r" b="b"/>
            <a:pathLst>
              <a:path w="2483484" h="7560945">
                <a:moveTo>
                  <a:pt x="2483221" y="7560564"/>
                </a:moveTo>
                <a:lnTo>
                  <a:pt x="0" y="7560564"/>
                </a:lnTo>
                <a:lnTo>
                  <a:pt x="2230236" y="0"/>
                </a:lnTo>
                <a:lnTo>
                  <a:pt x="2483221" y="10295"/>
                </a:lnTo>
                <a:lnTo>
                  <a:pt x="2483221" y="7560564"/>
                </a:lnTo>
                <a:close/>
              </a:path>
            </a:pathLst>
          </a:custGeom>
          <a:solidFill>
            <a:srgbClr val="5ECAEF">
              <a:alpha val="3593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8249489" y="0"/>
            <a:ext cx="2138680" cy="7560945"/>
          </a:xfrm>
          <a:custGeom>
            <a:avLst/>
            <a:ahLst/>
            <a:rect l="l" t="t" r="r" b="b"/>
            <a:pathLst>
              <a:path w="2138679" h="7560945">
                <a:moveTo>
                  <a:pt x="2138095" y="7560564"/>
                </a:moveTo>
                <a:lnTo>
                  <a:pt x="1324012" y="7560564"/>
                </a:lnTo>
                <a:lnTo>
                  <a:pt x="0" y="0"/>
                </a:lnTo>
                <a:lnTo>
                  <a:pt x="2138095" y="0"/>
                </a:lnTo>
                <a:lnTo>
                  <a:pt x="2138095" y="7560564"/>
                </a:lnTo>
                <a:close/>
              </a:path>
            </a:pathLst>
          </a:custGeom>
          <a:solidFill>
            <a:srgbClr val="5ECAEF">
              <a:alpha val="1992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7625872" y="4323587"/>
            <a:ext cx="2762250" cy="3237230"/>
          </a:xfrm>
          <a:custGeom>
            <a:avLst/>
            <a:ahLst/>
            <a:rect l="l" t="t" r="r" b="b"/>
            <a:pathLst>
              <a:path w="2762250" h="3237229">
                <a:moveTo>
                  <a:pt x="2761712" y="3236976"/>
                </a:moveTo>
                <a:lnTo>
                  <a:pt x="0" y="3236976"/>
                </a:lnTo>
                <a:lnTo>
                  <a:pt x="2761712" y="0"/>
                </a:lnTo>
                <a:lnTo>
                  <a:pt x="2761712" y="3236976"/>
                </a:lnTo>
                <a:close/>
              </a:path>
            </a:pathLst>
          </a:custGeom>
          <a:solidFill>
            <a:srgbClr val="16AFE4">
              <a:alpha val="6562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8037000" y="0"/>
            <a:ext cx="2350770" cy="7560945"/>
          </a:xfrm>
          <a:custGeom>
            <a:avLst/>
            <a:ahLst/>
            <a:rect l="l" t="t" r="r" b="b"/>
            <a:pathLst>
              <a:path w="2350770" h="7560945">
                <a:moveTo>
                  <a:pt x="2096831" y="7560564"/>
                </a:moveTo>
                <a:lnTo>
                  <a:pt x="2043848" y="7560564"/>
                </a:lnTo>
                <a:lnTo>
                  <a:pt x="0" y="0"/>
                </a:lnTo>
                <a:lnTo>
                  <a:pt x="2350584" y="0"/>
                </a:lnTo>
                <a:lnTo>
                  <a:pt x="2350584" y="7553209"/>
                </a:lnTo>
                <a:lnTo>
                  <a:pt x="2096831" y="7560564"/>
                </a:lnTo>
                <a:close/>
              </a:path>
            </a:pathLst>
          </a:custGeom>
          <a:solidFill>
            <a:srgbClr val="16AFE4">
              <a:alpha val="50000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9451999" y="0"/>
            <a:ext cx="935990" cy="7560945"/>
          </a:xfrm>
          <a:custGeom>
            <a:avLst/>
            <a:ahLst/>
            <a:rect l="l" t="t" r="r" b="b"/>
            <a:pathLst>
              <a:path w="935990" h="7560945">
                <a:moveTo>
                  <a:pt x="935586" y="7560564"/>
                </a:moveTo>
                <a:lnTo>
                  <a:pt x="0" y="7560564"/>
                </a:lnTo>
                <a:lnTo>
                  <a:pt x="745707" y="0"/>
                </a:lnTo>
                <a:lnTo>
                  <a:pt x="935586" y="0"/>
                </a:lnTo>
                <a:lnTo>
                  <a:pt x="935586" y="7560564"/>
                </a:lnTo>
                <a:close/>
              </a:path>
            </a:pathLst>
          </a:custGeom>
          <a:solidFill>
            <a:srgbClr val="2D83C3">
              <a:alpha val="6992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9230596" y="0"/>
            <a:ext cx="1157605" cy="7560945"/>
          </a:xfrm>
          <a:custGeom>
            <a:avLst/>
            <a:ahLst/>
            <a:rect l="l" t="t" r="r" b="b"/>
            <a:pathLst>
              <a:path w="1157604" h="7560945">
                <a:moveTo>
                  <a:pt x="1156988" y="7560564"/>
                </a:moveTo>
                <a:lnTo>
                  <a:pt x="1034859" y="7560564"/>
                </a:lnTo>
                <a:lnTo>
                  <a:pt x="0" y="0"/>
                </a:lnTo>
                <a:lnTo>
                  <a:pt x="1156988" y="0"/>
                </a:lnTo>
                <a:lnTo>
                  <a:pt x="1156988" y="7560564"/>
                </a:lnTo>
                <a:close/>
              </a:path>
            </a:pathLst>
          </a:custGeom>
          <a:solidFill>
            <a:srgbClr val="236291">
              <a:alpha val="81640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9201234" y="5423930"/>
            <a:ext cx="1186815" cy="2136775"/>
          </a:xfrm>
          <a:custGeom>
            <a:avLst/>
            <a:ahLst/>
            <a:rect l="l" t="t" r="r" b="b"/>
            <a:pathLst>
              <a:path w="1186815" h="2136775">
                <a:moveTo>
                  <a:pt x="401438" y="2136633"/>
                </a:moveTo>
                <a:lnTo>
                  <a:pt x="0" y="2136633"/>
                </a:lnTo>
                <a:lnTo>
                  <a:pt x="1186350" y="0"/>
                </a:lnTo>
                <a:lnTo>
                  <a:pt x="1186350" y="2133660"/>
                </a:lnTo>
                <a:lnTo>
                  <a:pt x="401438" y="2136633"/>
                </a:lnTo>
                <a:close/>
              </a:path>
            </a:pathLst>
          </a:custGeom>
          <a:solidFill>
            <a:srgbClr val="16AFE4">
              <a:alpha val="6562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Holder 2"/>
          <p:cNvSpPr>
            <a:spLocks noGrp="1"/>
          </p:cNvSpPr>
          <p:nvPr>
            <p:ph type="title"/>
          </p:nvPr>
        </p:nvSpPr>
        <p:spPr>
          <a:xfrm>
            <a:off x="793460" y="355990"/>
            <a:ext cx="9106478" cy="833718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586" name="Holder 3"/>
          <p:cNvSpPr>
            <a:spLocks noGrp="1"/>
          </p:cNvSpPr>
          <p:nvPr>
            <p:ph type="body" idx="1"/>
          </p:nvPr>
        </p:nvSpPr>
        <p:spPr>
          <a:xfrm>
            <a:off x="2279387" y="2881216"/>
            <a:ext cx="6134625" cy="2106295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3600" i="0">
                <a:solidFill>
                  <a:srgbClr val="001F6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587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8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589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/>
          <p:cNvSpPr txBox="1">
            <a:spLocks noGrp="1"/>
          </p:cNvSpPr>
          <p:nvPr>
            <p:ph type="title"/>
          </p:nvPr>
        </p:nvSpPr>
        <p:spPr>
          <a:xfrm>
            <a:off x="1765766" y="1861567"/>
            <a:ext cx="7155815" cy="10795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b="0" dirty="0" spc="-8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Shop</a:t>
            </a:r>
            <a:r>
              <a:rPr b="0" dirty="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b="0" dirty="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 spc="-1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b="0" dirty="0" spc="-21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 spc="-25">
                <a:latin typeface="Times New Roman" panose="02020603050405020304"/>
                <a:cs typeface="Times New Roman" panose="02020603050405020304"/>
              </a:rPr>
              <a:t>App</a:t>
            </a:r>
            <a:endParaRPr b="0" dirty="0" spc="-2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96" name="object 3"/>
          <p:cNvSpPr txBox="1">
            <a:spLocks noGrp="1"/>
          </p:cNvSpPr>
          <p:nvPr>
            <p:ph type="body" idx="1"/>
          </p:nvPr>
        </p:nvSpPr>
        <p:spPr>
          <a:xfrm>
            <a:off x="2279387" y="2881216"/>
            <a:ext cx="6134625" cy="2035048"/>
          </a:xfrm>
          <a:prstGeom prst="rect"/>
        </p:spPr>
        <p:txBody>
          <a:bodyPr bIns="0" lIns="0" rIns="0" rtlCol="0" tIns="50800" vert="horz" wrap="square">
            <a:spAutoFit/>
          </a:bodyPr>
          <a:p>
            <a:pPr algn="ctr" indent="-635" marL="4445" marR="5080">
              <a:lnSpc>
                <a:spcPct val="93000"/>
              </a:lnSpc>
              <a:spcBef>
                <a:spcPts val="400"/>
              </a:spcBef>
            </a:pPr>
            <a:r>
              <a:rPr dirty="0"/>
              <a:t>Parth</a:t>
            </a:r>
            <a:r>
              <a:rPr dirty="0" spc="-40"/>
              <a:t> </a:t>
            </a:r>
            <a:r>
              <a:rPr dirty="0"/>
              <a:t>Gangurde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10"/>
              <a:t>23107043 </a:t>
            </a:r>
            <a:r>
              <a:rPr dirty="0"/>
              <a:t>suhurd</a:t>
            </a:r>
            <a:r>
              <a:rPr dirty="0" spc="-35"/>
              <a:t> </a:t>
            </a:r>
            <a:r>
              <a:rPr dirty="0"/>
              <a:t>Ghanvatkar</a:t>
            </a:r>
            <a:r>
              <a:rPr dirty="0" spc="-90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 spc="-10"/>
              <a:t>24107012 </a:t>
            </a:r>
            <a:r>
              <a:rPr dirty="0"/>
              <a:t>Harish</a:t>
            </a:r>
            <a:r>
              <a:rPr dirty="0" spc="-20"/>
              <a:t> </a:t>
            </a:r>
            <a:r>
              <a:rPr dirty="0"/>
              <a:t>Kodam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45"/>
              <a:t> </a:t>
            </a:r>
            <a:r>
              <a:rPr dirty="0" spc="-10"/>
              <a:t>24107055 </a:t>
            </a:r>
            <a:r>
              <a:rPr dirty="0"/>
              <a:t>Manthan</a:t>
            </a:r>
            <a:r>
              <a:rPr dirty="0" spc="-35"/>
              <a:t> </a:t>
            </a:r>
            <a:r>
              <a:rPr dirty="0"/>
              <a:t>Kangane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50"/>
              <a:t> </a:t>
            </a:r>
            <a:r>
              <a:rPr dirty="0" spc="-10">
                <a:solidFill>
                  <a:srgbClr val="164262"/>
                </a:solidFill>
              </a:rPr>
              <a:t>24107075</a:t>
            </a:r>
            <a:endParaRPr dirty="0" spc="-10">
              <a:solidFill>
                <a:srgbClr val="164262"/>
              </a:solidFill>
            </a:endParaRPr>
          </a:p>
        </p:txBody>
      </p:sp>
      <p:sp>
        <p:nvSpPr>
          <p:cNvPr id="1048597" name="object 4"/>
          <p:cNvSpPr txBox="1"/>
          <p:nvPr/>
        </p:nvSpPr>
        <p:spPr>
          <a:xfrm>
            <a:off x="3917748" y="6296693"/>
            <a:ext cx="2851785" cy="787400"/>
          </a:xfrm>
          <a:prstGeom prst="rect"/>
        </p:spPr>
        <p:txBody>
          <a:bodyPr bIns="0" lIns="0" rIns="0" rtlCol="0" tIns="12065" vert="horz" wrap="square">
            <a:spAutoFit/>
          </a:bodyPr>
          <a:p>
            <a:pPr algn="ctr" marL="1270">
              <a:lnSpc>
                <a:spcPts val="3265"/>
              </a:lnSpc>
              <a:spcBef>
                <a:spcPts val="95"/>
              </a:spcBef>
            </a:pPr>
            <a:r>
              <a:rPr b="1" dirty="0" sz="280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b="1" dirty="0" sz="2800" spc="-12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 spc="-10">
                <a:latin typeface="Times New Roman" panose="02020603050405020304"/>
                <a:cs typeface="Times New Roman" panose="02020603050405020304"/>
              </a:rPr>
              <a:t>Guide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2785"/>
              </a:lnSpc>
            </a:pPr>
            <a:r>
              <a:rPr altLang="" b="1" dirty="0" sz="2400" lang="en-US" spc="-20">
                <a:latin typeface="Times New Roman" panose="02020603050405020304"/>
                <a:cs typeface="Times New Roman" panose="02020603050405020304"/>
              </a:rPr>
              <a:t>Dr.</a:t>
            </a:r>
            <a:r>
              <a:rPr b="1" dirty="0" sz="2400" spc="-20">
                <a:latin typeface="Times New Roman" panose="02020603050405020304"/>
                <a:cs typeface="Times New Roman" panose="02020603050405020304"/>
              </a:rPr>
              <a:t>Avinash</a:t>
            </a:r>
            <a:r>
              <a:rPr b="1" dirty="0" sz="2400" spc="-7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400" spc="-10">
                <a:latin typeface="Times New Roman" panose="02020603050405020304"/>
                <a:cs typeface="Times New Roman" panose="02020603050405020304"/>
              </a:rPr>
              <a:t>Shrivas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097152" name="object 5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303275" y="0"/>
            <a:ext cx="10084308" cy="1953767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/>
          <p:cNvSpPr txBox="1">
            <a:spLocks noGrp="1"/>
          </p:cNvSpPr>
          <p:nvPr>
            <p:ph type="title"/>
          </p:nvPr>
        </p:nvSpPr>
        <p:spPr>
          <a:xfrm>
            <a:off x="793460" y="355990"/>
            <a:ext cx="9106478" cy="5461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36747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Contents</a:t>
            </a:r>
            <a:endParaRPr dirty="0" spc="-10"/>
          </a:p>
        </p:txBody>
      </p:sp>
      <p:sp>
        <p:nvSpPr>
          <p:cNvPr id="1048599" name="object 3"/>
          <p:cNvSpPr txBox="1"/>
          <p:nvPr/>
        </p:nvSpPr>
        <p:spPr>
          <a:xfrm>
            <a:off x="903235" y="1410635"/>
            <a:ext cx="3810635" cy="616331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322580" marL="335280">
              <a:lnSpc>
                <a:spcPct val="100000"/>
              </a:lnSpc>
              <a:spcBef>
                <a:spcPts val="100"/>
              </a:spcBef>
              <a:buSzPct val="44000"/>
              <a:buChar char="•"/>
              <a:tabLst>
                <a:tab algn="l" pos="335280"/>
              </a:tabLst>
            </a:pP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Introduction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Times New Roman" panose="02020603050405020304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22580" marL="335280">
              <a:lnSpc>
                <a:spcPct val="100000"/>
              </a:lnSpc>
              <a:buSzPct val="44000"/>
              <a:buChar char="•"/>
              <a:tabLst>
                <a:tab algn="l" pos="335280"/>
              </a:tabLst>
            </a:pP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Objectives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Times New Roman" panose="02020603050405020304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22580" marL="335280">
              <a:lnSpc>
                <a:spcPct val="100000"/>
              </a:lnSpc>
              <a:buSzPct val="44000"/>
              <a:buChar char="•"/>
              <a:tabLst>
                <a:tab algn="l" pos="335280"/>
              </a:tabLst>
            </a:pP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Scope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Times New Roman" panose="02020603050405020304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22580" marL="335280">
              <a:lnSpc>
                <a:spcPct val="100000"/>
              </a:lnSpc>
              <a:buSzPct val="44000"/>
              <a:buChar char="•"/>
              <a:tabLst>
                <a:tab algn="l" pos="335280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/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Functionality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Font typeface="Times New Roman" panose="02020603050405020304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22580" marL="335280">
              <a:lnSpc>
                <a:spcPct val="100000"/>
              </a:lnSpc>
              <a:buSzPct val="44000"/>
              <a:buChar char="•"/>
              <a:tabLst>
                <a:tab algn="l" pos="335280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dirty="0" sz="2400" spc="-4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Outcomes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Times New Roman" panose="02020603050405020304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22580" marL="335280">
              <a:lnSpc>
                <a:spcPct val="100000"/>
              </a:lnSpc>
              <a:buSzPct val="44000"/>
              <a:buChar char="•"/>
              <a:tabLst>
                <a:tab algn="l" pos="335280"/>
              </a:tabLst>
            </a:pP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dirty="0" sz="2400" spc="-9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Stack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Font typeface="Times New Roman" panose="02020603050405020304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22580" marL="335280">
              <a:lnSpc>
                <a:spcPct val="100000"/>
              </a:lnSpc>
              <a:spcBef>
                <a:spcPts val="5"/>
              </a:spcBef>
              <a:buSzPct val="44000"/>
              <a:buChar char="•"/>
              <a:tabLst>
                <a:tab algn="l" pos="335280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Block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Diagram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if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applicable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/>
          <p:cNvSpPr txBox="1">
            <a:spLocks noGrp="1"/>
          </p:cNvSpPr>
          <p:nvPr>
            <p:ph type="title"/>
          </p:nvPr>
        </p:nvSpPr>
        <p:spPr>
          <a:xfrm>
            <a:off x="793460" y="355990"/>
            <a:ext cx="9106478" cy="763270"/>
          </a:xfrm>
          <a:prstGeom prst="rect"/>
        </p:spPr>
        <p:txBody>
          <a:bodyPr bIns="0" lIns="0" rIns="0" rtlCol="0" tIns="271743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1. </a:t>
            </a:r>
            <a:r>
              <a:rPr dirty="0" sz="3200" spc="-10"/>
              <a:t>Introduction</a:t>
            </a:r>
            <a:endParaRPr dirty="0" sz="3200" spc="-10"/>
          </a:p>
        </p:txBody>
      </p:sp>
      <p:sp>
        <p:nvSpPr>
          <p:cNvPr id="1048601" name="object 3"/>
          <p:cNvSpPr txBox="1"/>
          <p:nvPr/>
        </p:nvSpPr>
        <p:spPr>
          <a:xfrm>
            <a:off x="758472" y="1223200"/>
            <a:ext cx="8591550" cy="5022850"/>
          </a:xfrm>
          <a:prstGeom prst="rect"/>
        </p:spPr>
        <p:txBody>
          <a:bodyPr bIns="0" lIns="0" rIns="0" rtlCol="0" tIns="166370" vert="horz" wrap="square">
            <a:spAutoFit/>
          </a:bodyPr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Identified: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900" marL="354965" marR="93345">
              <a:lnSpc>
                <a:spcPts val="2680"/>
              </a:lnSpc>
              <a:spcBef>
                <a:spcPts val="1470"/>
              </a:spcBef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shops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often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5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billing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manually,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which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can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cause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errors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slow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service.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900" marL="354965" marR="502285">
              <a:lnSpc>
                <a:spcPts val="2680"/>
              </a:lnSpc>
              <a:spcBef>
                <a:spcPts val="1405"/>
              </a:spcBef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Tracking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menu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items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daily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digital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is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difficult.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485"/>
              </a:spcBef>
              <a:buFont typeface="Arial MT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Solution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Proposed: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900" marL="354965" marR="5080">
              <a:lnSpc>
                <a:spcPts val="2680"/>
              </a:lnSpc>
              <a:spcBef>
                <a:spcPts val="1470"/>
              </a:spcBef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Shop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Mobile</a:t>
            </a:r>
            <a:r>
              <a:rPr dirty="0" sz="2400" spc="-1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App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to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menu,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orders,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billing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digitally.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900" marL="354965" marR="843280">
              <a:lnSpc>
                <a:spcPts val="2680"/>
              </a:lnSpc>
              <a:spcBef>
                <a:spcPts val="1405"/>
              </a:spcBef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app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staff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customers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handle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quickly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and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efficiently.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object 2"/>
          <p:cNvSpPr txBox="1">
            <a:spLocks noGrp="1"/>
          </p:cNvSpPr>
          <p:nvPr>
            <p:ph type="title"/>
          </p:nvPr>
        </p:nvSpPr>
        <p:spPr>
          <a:xfrm>
            <a:off x="793460" y="355990"/>
            <a:ext cx="9106478" cy="763270"/>
          </a:xfrm>
          <a:prstGeom prst="rect"/>
        </p:spPr>
        <p:txBody>
          <a:bodyPr bIns="0" lIns="0" rIns="0" rtlCol="0" tIns="271743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2. </a:t>
            </a:r>
            <a:r>
              <a:rPr dirty="0" sz="3200" spc="-10"/>
              <a:t>Objectives</a:t>
            </a:r>
            <a:endParaRPr dirty="0" sz="3200" spc="-10"/>
          </a:p>
        </p:txBody>
      </p:sp>
      <p:sp>
        <p:nvSpPr>
          <p:cNvPr id="1048603" name="object 3"/>
          <p:cNvSpPr txBox="1"/>
          <p:nvPr/>
        </p:nvSpPr>
        <p:spPr>
          <a:xfrm>
            <a:off x="758472" y="1588897"/>
            <a:ext cx="7837170" cy="4523739"/>
          </a:xfrm>
          <a:prstGeom prst="rect"/>
        </p:spPr>
        <p:txBody>
          <a:bodyPr bIns="0" lIns="0" rIns="0" rtlCol="0" tIns="45085" vert="horz" wrap="square">
            <a:spAutoFit/>
          </a:bodyPr>
          <a:p>
            <a:pPr indent="-457200" marL="469265" marR="242570">
              <a:lnSpc>
                <a:spcPts val="2680"/>
              </a:lnSpc>
              <a:spcBef>
                <a:spcPts val="355"/>
              </a:spcBef>
              <a:buAutoNum type="arabicPeriod"/>
              <a:tabLst>
                <a:tab algn="l" pos="469265"/>
              </a:tabLst>
            </a:pP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To</a:t>
            </a:r>
            <a:r>
              <a:rPr altLang="en-US" dirty="0" sz="2400" lang="en-US" spc="-30">
                <a:latin typeface="Times New Roman" panose="02020603050405020304"/>
                <a:cs typeface="Times New Roman" panose="02020603050405020304"/>
              </a:rPr>
              <a:t> improve order accuracy and track inventory usage.</a:t>
            </a:r>
            <a:endParaRPr altLang="en-US" dirty="0" sz="2400" lang="en-US" spc="-30">
              <a:latin typeface="Times New Roman" panose="02020603050405020304"/>
              <a:cs typeface="Times New Roman" panose="02020603050405020304"/>
            </a:endParaRPr>
          </a:p>
          <a:p>
            <a:pPr indent="-457200" marL="469265" marR="242570">
              <a:lnSpc>
                <a:spcPts val="2680"/>
              </a:lnSpc>
              <a:spcBef>
                <a:spcPts val="355"/>
              </a:spcBef>
              <a:buAutoNum type="arabicPeriod"/>
              <a:tabLst>
                <a:tab algn="l" pos="469265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457200" marL="4699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algn="l" pos="469900"/>
              </a:tabLst>
            </a:pP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To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simplify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menu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shop</a:t>
            </a:r>
            <a:endParaRPr dirty="0" sz="2400" spc="-10">
              <a:latin typeface="Times New Roman" panose="02020603050405020304"/>
              <a:cs typeface="Times New Roman" panose="02020603050405020304"/>
            </a:endParaRPr>
          </a:p>
          <a:p>
            <a:pPr indent="-457200" marL="4699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algn="l" pos="469900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457200" marL="469900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algn="l" pos="469900"/>
              </a:tabLst>
            </a:pP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To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automate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billing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processing.</a:t>
            </a:r>
            <a:endParaRPr dirty="0" sz="2400" spc="-10">
              <a:latin typeface="Times New Roman" panose="02020603050405020304"/>
              <a:cs typeface="Times New Roman" panose="02020603050405020304"/>
            </a:endParaRPr>
          </a:p>
          <a:p>
            <a:pPr indent="-457200" marL="469900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algn="l" pos="469900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457200" marL="469900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algn="l" pos="469900"/>
              </a:tabLst>
            </a:pP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To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generate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daily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reports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for</a:t>
            </a:r>
            <a:r>
              <a:rPr dirty="0" sz="2400" spc="-4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business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tracking</a:t>
            </a:r>
            <a:endParaRPr dirty="0" sz="2400" spc="-10">
              <a:latin typeface="Times New Roman" panose="02020603050405020304"/>
              <a:cs typeface="Times New Roman" panose="02020603050405020304"/>
            </a:endParaRPr>
          </a:p>
          <a:p>
            <a:pPr indent="-457200" marL="469900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algn="l" pos="469900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object 2"/>
          <p:cNvSpPr txBox="1">
            <a:spLocks noGrp="1"/>
          </p:cNvSpPr>
          <p:nvPr>
            <p:ph type="title"/>
          </p:nvPr>
        </p:nvSpPr>
        <p:spPr>
          <a:xfrm>
            <a:off x="793460" y="355990"/>
            <a:ext cx="9106478" cy="713105"/>
          </a:xfrm>
          <a:prstGeom prst="rect"/>
        </p:spPr>
        <p:txBody>
          <a:bodyPr bIns="0" lIns="0" rIns="0" rtlCol="0" tIns="221498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3. </a:t>
            </a:r>
            <a:r>
              <a:rPr dirty="0" sz="3200" spc="-10"/>
              <a:t>Scope</a:t>
            </a:r>
            <a:endParaRPr dirty="0" sz="3200" spc="-10"/>
          </a:p>
        </p:txBody>
      </p:sp>
      <p:sp>
        <p:nvSpPr>
          <p:cNvPr id="1048605" name="object 3"/>
          <p:cNvSpPr txBox="1"/>
          <p:nvPr/>
        </p:nvSpPr>
        <p:spPr>
          <a:xfrm>
            <a:off x="686863" y="1587408"/>
            <a:ext cx="8312150" cy="4095115"/>
          </a:xfrm>
          <a:prstGeom prst="rect"/>
        </p:spPr>
        <p:txBody>
          <a:bodyPr bIns="0" lIns="0" rIns="0" rtlCol="0" tIns="45085" vert="horz" wrap="square">
            <a:spAutoFit/>
          </a:bodyPr>
          <a:p>
            <a:pPr indent="-457200" marL="469265" marR="111125">
              <a:lnSpc>
                <a:spcPts val="2680"/>
              </a:lnSpc>
              <a:spcBef>
                <a:spcPts val="355"/>
              </a:spcBef>
              <a:buAutoNum type="arabicPeriod"/>
              <a:tabLst>
                <a:tab algn="l" pos="4692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be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shops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small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cafes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to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daily operations.</a:t>
            </a:r>
            <a:endParaRPr dirty="0" sz="2400" spc="-10">
              <a:latin typeface="Times New Roman" panose="02020603050405020304"/>
              <a:cs typeface="Times New Roman" panose="02020603050405020304"/>
            </a:endParaRPr>
          </a:p>
          <a:p>
            <a:pPr indent="-457200" marL="469265" marR="111125">
              <a:lnSpc>
                <a:spcPts val="2680"/>
              </a:lnSpc>
              <a:spcBef>
                <a:spcPts val="355"/>
              </a:spcBef>
              <a:buAutoNum type="arabicPeriod"/>
              <a:tabLst>
                <a:tab algn="l" pos="469265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457200" marL="469265" marR="5080">
              <a:lnSpc>
                <a:spcPts val="2680"/>
              </a:lnSpc>
              <a:spcBef>
                <a:spcPts val="1410"/>
              </a:spcBef>
              <a:buAutoNum type="arabicPeriod"/>
              <a:tabLst>
                <a:tab algn="l" pos="4692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useful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for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shop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owners,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staff,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customers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for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efficient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management.</a:t>
            </a:r>
            <a:endParaRPr dirty="0" sz="2400" spc="-10">
              <a:latin typeface="Times New Roman" panose="02020603050405020304"/>
              <a:cs typeface="Times New Roman" panose="02020603050405020304"/>
            </a:endParaRPr>
          </a:p>
          <a:p>
            <a:pPr indent="-457200" marL="469265" marR="5080">
              <a:lnSpc>
                <a:spcPts val="2680"/>
              </a:lnSpc>
              <a:spcBef>
                <a:spcPts val="1410"/>
              </a:spcBef>
              <a:buAutoNum type="arabicPeriod"/>
              <a:tabLst>
                <a:tab algn="l" pos="469265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457200" marL="4699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algn="l" pos="469900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reducing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manual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work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billing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errors.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457200" marL="469265" marR="351790">
              <a:lnSpc>
                <a:spcPts val="2680"/>
              </a:lnSpc>
              <a:spcBef>
                <a:spcPts val="1470"/>
              </a:spcBef>
              <a:buAutoNum type="arabicPeriod"/>
              <a:tabLst>
                <a:tab algn="l" pos="469265"/>
              </a:tabLst>
            </a:pPr>
            <a:endParaRPr dirty="0" sz="2400">
              <a:latin typeface="Times New Roman" panose="02020603050405020304"/>
              <a:cs typeface="Times New Roman" panose="02020603050405020304"/>
            </a:endParaRPr>
          </a:p>
          <a:p>
            <a:pPr indent="-457200" marL="469265" marR="351790">
              <a:lnSpc>
                <a:spcPts val="2680"/>
              </a:lnSpc>
              <a:spcBef>
                <a:spcPts val="1470"/>
              </a:spcBef>
              <a:buAutoNum type="arabicPeriod"/>
              <a:tabLst>
                <a:tab algn="l" pos="469265"/>
              </a:tabLst>
            </a:pPr>
            <a:r>
              <a:rPr altLang="" sz="2400" lang="en-US">
                <a:latin typeface="Times New Roman" panose="02020603050405020304"/>
                <a:cs typeface="Times New Roman" panose="02020603050405020304"/>
              </a:rPr>
              <a:t>Can be extended in the future to include online payments .</a:t>
            </a:r>
            <a:endParaRPr altLang="" sz="2400" lang="en-US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rIns="0" rtlCol="0" tIns="271743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dirty="0" spc="-85"/>
              <a:t> </a:t>
            </a:r>
            <a:r>
              <a:rPr dirty="0"/>
              <a:t>Feature</a:t>
            </a:r>
            <a:r>
              <a:rPr dirty="0" spc="-60"/>
              <a:t> </a:t>
            </a:r>
            <a:r>
              <a:rPr dirty="0" spc="-10"/>
              <a:t>/Functionality</a:t>
            </a:r>
            <a:endParaRPr dirty="0" spc="-10"/>
          </a:p>
        </p:txBody>
      </p:sp>
      <p:sp>
        <p:nvSpPr>
          <p:cNvPr id="1048607" name="object 3"/>
          <p:cNvSpPr txBox="1"/>
          <p:nvPr/>
        </p:nvSpPr>
        <p:spPr>
          <a:xfrm>
            <a:off x="686863" y="1433560"/>
            <a:ext cx="8992870" cy="4843145"/>
          </a:xfrm>
          <a:prstGeom prst="rect"/>
        </p:spPr>
        <p:txBody>
          <a:bodyPr bIns="0" lIns="0" rIns="0" rtlCol="0" tIns="166370" vert="horz" wrap="square">
            <a:spAutoFit/>
          </a:bodyPr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1: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Login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/</a:t>
            </a:r>
            <a:r>
              <a:rPr dirty="0" sz="2400" spc="-15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Auhentication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108585">
              <a:lnSpc>
                <a:spcPts val="2680"/>
              </a:lnSpc>
              <a:spcBef>
                <a:spcPts val="147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admin,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staff,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customers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securely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log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to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the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application.</a:t>
            </a:r>
            <a:r>
              <a:rPr dirty="0" sz="2400" spc="-14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Authentication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ensures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that only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authorized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access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of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system.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2: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Menu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Management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680"/>
              </a:lnSpc>
              <a:spcBef>
                <a:spcPts val="147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Admin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add,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update,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remove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items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other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menu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products.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Customers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easily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view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menu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items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app.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3: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Management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algn="just" marL="12700" marR="376555">
              <a:lnSpc>
                <a:spcPts val="2680"/>
              </a:lnSpc>
              <a:spcBef>
                <a:spcPts val="147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Customers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orders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app,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staff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manage 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and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update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status.</a:t>
            </a:r>
            <a:r>
              <a:rPr dirty="0" sz="2400" spc="-5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organizing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processing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orders efficiently.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object 2"/>
          <p:cNvSpPr txBox="1"/>
          <p:nvPr/>
        </p:nvSpPr>
        <p:spPr>
          <a:xfrm>
            <a:off x="922979" y="738612"/>
            <a:ext cx="7390130" cy="3679190"/>
          </a:xfrm>
          <a:prstGeom prst="rect"/>
        </p:spPr>
        <p:txBody>
          <a:bodyPr bIns="0" lIns="0" rIns="0" rtlCol="0" tIns="166370" vert="horz" wrap="square">
            <a:spAutoFit/>
          </a:bodyPr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Feature 4: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Billing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System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73025">
              <a:lnSpc>
                <a:spcPts val="2680"/>
              </a:lnSpc>
              <a:spcBef>
                <a:spcPts val="147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automatically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generates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bills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items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ordered.</a:t>
            </a:r>
            <a:r>
              <a:rPr dirty="0" sz="2400" spc="-7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reduces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manual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calculations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ensures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billing.</a:t>
            </a:r>
            <a:endParaRPr dirty="0" sz="2400" spc="-10">
              <a:latin typeface="Times New Roman" panose="02020603050405020304"/>
              <a:cs typeface="Times New Roman" panose="02020603050405020304"/>
            </a:endParaRPr>
          </a:p>
          <a:p>
            <a:pPr marL="12700" marR="73025">
              <a:lnSpc>
                <a:spcPts val="2680"/>
              </a:lnSpc>
              <a:spcBef>
                <a:spcPts val="1470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5: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Daily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Report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680"/>
              </a:lnSpc>
              <a:spcBef>
                <a:spcPts val="147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Admin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view daily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reports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to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number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of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revenue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generated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dirty="0" sz="24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shop.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object 2"/>
          <p:cNvSpPr txBox="1">
            <a:spLocks noGrp="1"/>
          </p:cNvSpPr>
          <p:nvPr>
            <p:ph type="title"/>
          </p:nvPr>
        </p:nvSpPr>
        <p:spPr>
          <a:xfrm>
            <a:off x="622010" y="428380"/>
            <a:ext cx="9106478" cy="763270"/>
          </a:xfrm>
          <a:prstGeom prst="rect"/>
        </p:spPr>
        <p:txBody>
          <a:bodyPr bIns="0" lIns="0" rIns="0" rtlCol="0" tIns="271743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5.</a:t>
            </a:r>
            <a:r>
              <a:rPr dirty="0" sz="3200" spc="-25"/>
              <a:t> </a:t>
            </a:r>
            <a:r>
              <a:rPr dirty="0" sz="3200"/>
              <a:t>Outcome</a:t>
            </a:r>
            <a:r>
              <a:rPr dirty="0" sz="3200" spc="-40"/>
              <a:t> </a:t>
            </a:r>
            <a:r>
              <a:rPr dirty="0" sz="3200"/>
              <a:t>of</a:t>
            </a:r>
            <a:r>
              <a:rPr dirty="0" sz="3200" spc="-40"/>
              <a:t> </a:t>
            </a:r>
            <a:r>
              <a:rPr dirty="0" sz="3200" spc="-10"/>
              <a:t>Project</a:t>
            </a:r>
            <a:endParaRPr dirty="0" sz="3200" spc="-10"/>
          </a:p>
        </p:txBody>
      </p:sp>
      <p:sp>
        <p:nvSpPr>
          <p:cNvPr id="1048613" name="object 3"/>
          <p:cNvSpPr txBox="1"/>
          <p:nvPr/>
        </p:nvSpPr>
        <p:spPr>
          <a:xfrm>
            <a:off x="741649" y="1922674"/>
            <a:ext cx="7710170" cy="2586355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342265" marL="354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User can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register and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log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to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application.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265" marL="354965">
              <a:lnSpc>
                <a:spcPct val="100000"/>
              </a:lnSpc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view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coffee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menu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items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in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 shop.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265" marL="354965">
              <a:lnSpc>
                <a:spcPct val="100000"/>
              </a:lnSpc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place</a:t>
            </a:r>
            <a:r>
              <a:rPr dirty="0" sz="24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orders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the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mobile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app.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265" marL="354965">
              <a:lnSpc>
                <a:spcPct val="100000"/>
              </a:lnSpc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Staff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update</a:t>
            </a:r>
            <a:r>
              <a:rPr dirty="0" sz="24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customer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orders.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265" marL="354965">
              <a:lnSpc>
                <a:spcPct val="100000"/>
              </a:lnSpc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generate</a:t>
            </a:r>
            <a:r>
              <a:rPr dirty="0" sz="24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bills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automatically.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900" marL="354965" marR="1200150">
              <a:lnSpc>
                <a:spcPct val="100000"/>
              </a:lnSpc>
              <a:buFont typeface="Arial MT"/>
              <a:buChar char="•"/>
              <a:tabLst>
                <a:tab algn="l" pos="354965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Admin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can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view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daily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reports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and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dirty="0" sz="2400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20">
                <a:latin typeface="Times New Roman" panose="02020603050405020304"/>
                <a:cs typeface="Times New Roman" panose="02020603050405020304"/>
              </a:rPr>
              <a:t>shop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performance.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object 2"/>
          <p:cNvSpPr txBox="1">
            <a:spLocks noGrp="1"/>
          </p:cNvSpPr>
          <p:nvPr>
            <p:ph type="title"/>
          </p:nvPr>
        </p:nvSpPr>
        <p:spPr>
          <a:xfrm>
            <a:off x="793460" y="355990"/>
            <a:ext cx="9106478" cy="763270"/>
          </a:xfrm>
          <a:prstGeom prst="rect"/>
        </p:spPr>
        <p:txBody>
          <a:bodyPr bIns="0" lIns="0" rIns="0" rtlCol="0" tIns="271743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6.</a:t>
            </a:r>
            <a:r>
              <a:rPr dirty="0" sz="3200" spc="-145"/>
              <a:t> </a:t>
            </a:r>
            <a:r>
              <a:rPr dirty="0" sz="3200" spc="-25"/>
              <a:t>Technology</a:t>
            </a:r>
            <a:r>
              <a:rPr dirty="0" sz="3200" spc="-70"/>
              <a:t> </a:t>
            </a:r>
            <a:r>
              <a:rPr dirty="0" sz="3200" spc="-10"/>
              <a:t>Stack</a:t>
            </a:r>
            <a:endParaRPr dirty="0" sz="3200" spc="-10"/>
          </a:p>
        </p:txBody>
      </p:sp>
      <p:sp>
        <p:nvSpPr>
          <p:cNvPr id="1048615" name="object 3"/>
          <p:cNvSpPr txBox="1"/>
          <p:nvPr/>
        </p:nvSpPr>
        <p:spPr>
          <a:xfrm>
            <a:off x="794385" y="1378585"/>
            <a:ext cx="2364740" cy="3861435"/>
          </a:xfrm>
          <a:prstGeom prst="rect"/>
        </p:spPr>
        <p:txBody>
          <a:bodyPr bIns="0" lIns="0" rIns="0" rtlCol="0" tIns="166370" vert="horz" wrap="square">
            <a:noAutofit/>
          </a:bodyPr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Frontend</a:t>
            </a:r>
            <a:r>
              <a:rPr dirty="0" sz="24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(GUI):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900" marL="355600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algn="l" pos="355600"/>
              </a:tabLst>
            </a:pPr>
            <a:r>
              <a:rPr dirty="0" sz="2400">
                <a:latin typeface="Times New Roman" panose="02020603050405020304"/>
                <a:cs typeface="Times New Roman" panose="02020603050405020304"/>
              </a:rPr>
              <a:t>Flutter</a:t>
            </a:r>
            <a:r>
              <a:rPr dirty="0" sz="2400" spc="-5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(Dart)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0" marL="12700">
              <a:lnSpc>
                <a:spcPct val="100000"/>
              </a:lnSpc>
              <a:spcBef>
                <a:spcPts val="1210"/>
              </a:spcBef>
              <a:buFont typeface="Arial MT"/>
              <a:buNone/>
              <a:tabLst>
                <a:tab algn="l" pos="355600"/>
              </a:tabLst>
            </a:pPr>
            <a:r>
              <a:rPr altLang="en-US" sz="2400" lang="en-US">
                <a:latin typeface="Times New Roman" panose="02020603050405020304"/>
                <a:cs typeface="Times New Roman" panose="02020603050405020304"/>
              </a:rPr>
              <a:t>Backend:</a:t>
            </a:r>
            <a:endParaRPr altLang="en-US" sz="2400" lang="en-US">
              <a:latin typeface="Times New Roman" panose="02020603050405020304"/>
              <a:cs typeface="Times New Roman" panose="02020603050405020304"/>
            </a:endParaRPr>
          </a:p>
          <a:p>
            <a:pPr algn="l" indent="-342900" marL="35560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  <a:tabLst>
                <a:tab algn="l" pos="355600"/>
              </a:tabLst>
            </a:pPr>
            <a:r>
              <a:rPr altLang="en-US" sz="2400" lang="en-US">
                <a:latin typeface="Times New Roman" panose="02020603050405020304"/>
                <a:cs typeface="Times New Roman" panose="02020603050405020304"/>
              </a:rPr>
              <a:t>Firebase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45"/>
              </a:spcBef>
              <a:buFont typeface="Arial MT"/>
              <a:buChar char="•"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0" marL="12700">
              <a:lnSpc>
                <a:spcPct val="100000"/>
              </a:lnSpc>
              <a:buFont typeface="Arial MT"/>
              <a:buNone/>
              <a:tabLst>
                <a:tab algn="l" pos="355600"/>
              </a:tabLst>
            </a:pPr>
            <a:r>
              <a:rPr dirty="0" sz="2400" spc="-10">
                <a:latin typeface="Times New Roman" panose="02020603050405020304"/>
                <a:cs typeface="Times New Roman" panose="02020603050405020304"/>
              </a:rPr>
              <a:t>Database: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indent="-342900" marL="355600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algn="l" pos="355600"/>
              </a:tabLst>
            </a:pPr>
            <a:r>
              <a:rPr altLang="en-US" sz="2400" lang="en-US">
                <a:latin typeface="Times New Roman" panose="02020603050405020304"/>
                <a:cs typeface="Times New Roman" panose="02020603050405020304"/>
              </a:rPr>
              <a:t>NOSQL</a:t>
            </a:r>
            <a:endParaRPr altLang="en-US" sz="2400" lang="en-US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object 2"/>
          <p:cNvSpPr txBox="1">
            <a:spLocks noGrp="1"/>
          </p:cNvSpPr>
          <p:nvPr>
            <p:ph type="title"/>
          </p:nvPr>
        </p:nvSpPr>
        <p:spPr>
          <a:xfrm>
            <a:off x="793750" y="356235"/>
            <a:ext cx="9106535" cy="6440170"/>
          </a:xfrm>
          <a:prstGeom prst="rect"/>
        </p:spPr>
        <p:txBody>
          <a:bodyPr bIns="0" lIns="0" rIns="0" rtlCol="0" tIns="271743" vert="horz" wrap="square">
            <a:no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UI</a:t>
            </a:r>
            <a:r>
              <a:rPr dirty="0" spc="-10"/>
              <a:t> MOCKUPS:</a:t>
            </a:r>
            <a:br>
              <a:rPr dirty="0" spc="-10"/>
            </a:br>
            <a:br>
              <a:rPr dirty="0" spc="-10"/>
            </a:br>
            <a:br>
              <a:rPr dirty="0" spc="-10"/>
            </a:br>
            <a:endParaRPr dirty="0" lang="en-US" spc="-10"/>
          </a:p>
        </p:txBody>
      </p:sp>
      <p:pic>
        <p:nvPicPr>
          <p:cNvPr id="2097153" name="Picture 3" descr="WhatsApp Image 2026-04-03 at 15.41.3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917700" y="1644015"/>
            <a:ext cx="2581910" cy="5152390"/>
          </a:xfrm>
          <a:prstGeom prst="rect"/>
        </p:spPr>
      </p:pic>
      <p:pic>
        <p:nvPicPr>
          <p:cNvPr id="2097154" name="Picture 4" descr="WhatsApp Image 2026-04-03 at 15.41.33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270500" y="1647825"/>
            <a:ext cx="2543175" cy="5113655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793750" y="356235"/>
            <a:ext cx="9106535" cy="6478270"/>
          </a:xfrm>
        </p:spPr>
        <p:txBody>
          <a:bodyPr>
            <a:noAutofit/>
          </a:bodyPr>
          <a:p>
            <a:r>
              <a:rPr sz="3200" lang="en-US"/>
              <a:t>UI MOCKUPS:</a:t>
            </a:r>
            <a:br>
              <a:rPr sz="3200" lang="en-US"/>
            </a:br>
            <a:br>
              <a:rPr sz="3200" lang="en-US"/>
            </a:br>
            <a:br>
              <a:rPr sz="3200" lang="en-US"/>
            </a:br>
            <a:br>
              <a:rPr sz="3200" lang="en-US"/>
            </a:br>
            <a:br>
              <a:rPr sz="3200" lang="en-US"/>
            </a:br>
            <a:endParaRPr sz="3200" lang="en-US"/>
          </a:p>
        </p:txBody>
      </p:sp>
      <p:pic>
        <p:nvPicPr>
          <p:cNvPr id="2097155" name="Picture 2" descr="WhatsApp Image 2026-04-03 at 15.41.33 (1)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41900" y="1495425"/>
            <a:ext cx="2673985" cy="5293360"/>
          </a:xfrm>
          <a:prstGeom prst="rect"/>
        </p:spPr>
      </p:pic>
      <p:pic>
        <p:nvPicPr>
          <p:cNvPr id="2097156" name="Picture 3" descr="WhatsApp Image 2026-04-03 at 15.41.33 (2)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384300" y="1495425"/>
            <a:ext cx="2630170" cy="521589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793460" y="355990"/>
            <a:ext cx="9106478" cy="2215515"/>
          </a:xfrm>
        </p:spPr>
        <p:txBody>
          <a:bodyPr/>
          <a:p>
            <a:r>
              <a:rPr lang="en-US"/>
              <a:t>BLOCK DIAGRAM: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2097157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4300" y="1038225"/>
            <a:ext cx="6238240" cy="6238240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793460" y="355990"/>
            <a:ext cx="9106478" cy="6647815"/>
          </a:xfrm>
        </p:spPr>
        <p:txBody>
          <a:bodyPr/>
          <a:p>
            <a:r>
              <a:rPr lang="en-US"/>
              <a:t>SDGs Mapped:</a:t>
            </a:r>
            <a:br>
              <a:rPr lang="en-US"/>
            </a:br>
            <a:br>
              <a:rPr lang="en-US"/>
            </a:br>
            <a:r>
              <a:rPr altLang="en-US" b="0" lang="en-US"/>
              <a:t>SDG 2 – Zero Hunger</a:t>
            </a:r>
            <a:br>
              <a:rPr altLang="en-US" b="0" lang="en-US"/>
            </a:br>
            <a:r>
              <a:rPr altLang="en-US" b="0" lang="en-US"/>
              <a:t>Relevance:</a:t>
            </a:r>
            <a:br>
              <a:rPr altLang="en-US" b="0" lang="en-US"/>
            </a:br>
            <a:br>
              <a:rPr altLang="en-US" b="0" lang="en-US"/>
            </a:br>
            <a:r>
              <a:rPr altLang="en-US" b="0" lang="en-US"/>
              <a:t>Use ethically sourced coffee beans from farmers.</a:t>
            </a:r>
            <a:br>
              <a:rPr altLang="en-US" b="0" lang="en-US"/>
            </a:br>
            <a:r>
              <a:rPr altLang="en-US" b="0" lang="en-US"/>
              <a:t>Support fair trade practices to ensure farmers earn fair wages.</a:t>
            </a:r>
            <a:br>
              <a:rPr altLang="en-US" b="0" lang="en-US"/>
            </a:br>
            <a:br>
              <a:rPr altLang="en-US" b="0" lang="en-US"/>
            </a:br>
            <a:r>
              <a:rPr altLang="en-US" b="0" lang="en-US"/>
              <a:t>Example Actions:</a:t>
            </a:r>
            <a:br>
              <a:rPr altLang="en-US" b="0" lang="en-US"/>
            </a:br>
            <a:r>
              <a:rPr altLang="en-US" b="0" lang="en-US"/>
              <a:t>Partner with certified suppliers (Fairtrade coffee).</a:t>
            </a:r>
            <a:br>
              <a:rPr altLang="en-US" b="0" lang="en-US"/>
            </a:br>
            <a:r>
              <a:rPr altLang="en-US" b="0" lang="en-US"/>
              <a:t>Reduce food waste by donating unsold food.</a:t>
            </a:r>
            <a:endParaRPr altLang="en-US" b="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/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793460" y="355990"/>
            <a:ext cx="9106478" cy="3939540"/>
          </a:xfrm>
        </p:spPr>
        <p:txBody>
          <a:bodyPr/>
          <a:p>
            <a:r>
              <a:rPr altLang="en-US" sz="3200" lang="en-US"/>
              <a:t>SDG 8 – Decent Work and Economic Growth</a:t>
            </a:r>
            <a:br>
              <a:rPr altLang="en-US" b="0" lang="en-US"/>
            </a:br>
            <a:br>
              <a:rPr altLang="en-US" b="0" sz="2800" lang="en-US"/>
            </a:br>
            <a:r>
              <a:rPr altLang="en-US" b="0" sz="2800" lang="en-US"/>
              <a:t>Relevance:</a:t>
            </a:r>
            <a:br>
              <a:rPr altLang="en-US" b="0" sz="2800" lang="en-US"/>
            </a:br>
            <a:r>
              <a:rPr altLang="en-US" b="0" sz="2800" lang="en-US"/>
              <a:t>Coffee shops create jobs and support local economies.</a:t>
            </a:r>
            <a:br>
              <a:rPr altLang="en-US" b="0" sz="2800" lang="en-US"/>
            </a:br>
            <a:br>
              <a:rPr altLang="en-US" b="0" sz="2800" lang="en-US"/>
            </a:br>
            <a:r>
              <a:rPr altLang="en-US" b="0" sz="2800" lang="en-US"/>
              <a:t>Example Actions:</a:t>
            </a:r>
            <a:br>
              <a:rPr altLang="en-US" b="0" sz="2800" lang="en-US"/>
            </a:br>
            <a:r>
              <a:rPr altLang="en-US" b="0" sz="2800" lang="en-US"/>
              <a:t>Provide fair wages and safe working conditions.</a:t>
            </a:r>
            <a:br>
              <a:rPr altLang="en-US" b="0" sz="2800" lang="en-US"/>
            </a:br>
            <a:r>
              <a:rPr altLang="en-US" b="0" sz="2800" lang="en-US"/>
              <a:t>Offer skill training for baristas.</a:t>
            </a:r>
            <a:br>
              <a:rPr altLang="en-US" b="0" sz="2800" lang="en-US"/>
            </a:br>
            <a:r>
              <a:rPr altLang="en-US" b="0" sz="2800" lang="en-US"/>
              <a:t>Promote local hiring</a:t>
            </a:r>
            <a:r>
              <a:rPr altLang="en-US" sz="2800" lang="en-US"/>
              <a:t>.</a:t>
            </a:r>
            <a:endParaRPr altLang="en-US" sz="28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/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793460" y="355990"/>
            <a:ext cx="9106478" cy="3939540"/>
          </a:xfrm>
        </p:spPr>
        <p:txBody>
          <a:bodyPr/>
          <a:p>
            <a:r>
              <a:rPr altLang="en-US" sz="3200" lang="en-US"/>
              <a:t>SDG 12 – Responsible Consumption and Production</a:t>
            </a:r>
            <a:br>
              <a:rPr altLang="en-US" b="0" lang="en-US"/>
            </a:br>
            <a:br>
              <a:rPr altLang="en-US" b="0" sz="2800" lang="en-US"/>
            </a:br>
            <a:r>
              <a:rPr altLang="en-US" b="0" sz="2800" lang="en-US"/>
              <a:t>Relevance:</a:t>
            </a:r>
            <a:br>
              <a:rPr altLang="en-US" b="0" sz="2800" lang="en-US"/>
            </a:br>
            <a:r>
              <a:rPr altLang="en-US" b="0" sz="2800" lang="en-US"/>
              <a:t>High use of disposable cups and packaging.</a:t>
            </a:r>
            <a:br>
              <a:rPr altLang="en-US" b="0" sz="2800" lang="en-US"/>
            </a:br>
            <a:br>
              <a:rPr altLang="en-US" b="0" sz="2800" lang="en-US"/>
            </a:br>
            <a:r>
              <a:rPr altLang="en-US" b="0" sz="2800" lang="en-US"/>
              <a:t>Example Actions:</a:t>
            </a:r>
            <a:br>
              <a:rPr altLang="en-US" b="0" sz="2800" lang="en-US"/>
            </a:br>
            <a:r>
              <a:rPr altLang="en-US" b="0" sz="2800" lang="en-US"/>
              <a:t>Use biodegradable or reusable cups.</a:t>
            </a:r>
            <a:br>
              <a:rPr altLang="en-US" b="0" sz="2800" lang="en-US"/>
            </a:br>
            <a:r>
              <a:rPr altLang="en-US" b="0" sz="2800" lang="en-US"/>
              <a:t>Minimize plastic use.</a:t>
            </a:r>
            <a:br>
              <a:rPr altLang="en-US" b="0" sz="2800" lang="en-US"/>
            </a:br>
            <a:r>
              <a:rPr altLang="en-US" b="0" sz="2800" lang="en-US"/>
              <a:t>Track and reduce food waste.</a:t>
            </a:r>
            <a:endParaRPr altLang="en-US" b="0" sz="28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 txBox="1">
            <a:spLocks noGrp="1"/>
          </p:cNvSpPr>
          <p:nvPr>
            <p:ph type="title"/>
          </p:nvPr>
        </p:nvSpPr>
        <p:spPr>
          <a:xfrm>
            <a:off x="4147849" y="3372058"/>
            <a:ext cx="2679700" cy="574675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Thank</a:t>
            </a:r>
            <a:r>
              <a:rPr b="0" dirty="0" spc="-17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 spc="-45">
                <a:latin typeface="Times New Roman" panose="02020603050405020304"/>
                <a:cs typeface="Times New Roman" panose="02020603050405020304"/>
              </a:rPr>
              <a:t>You...!!</a:t>
            </a:r>
            <a:endParaRPr b="0" dirty="0" spc="-45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Coffee Shop Management System App</dc:title>
  <dc:creator>CPH2717</dc:creator>
  <cp:lastModifiedBy>Manthan kangne</cp:lastModifiedBy>
  <dcterms:created xsi:type="dcterms:W3CDTF">2026-03-31T05:28:00Z</dcterms:created>
  <dcterms:modified xsi:type="dcterms:W3CDTF">2026-04-28T08:50:08Z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2026-03-06T16:30:00Z</vt:filetime>
  </property>
  <property fmtid="{D5CDD505-2E9C-101B-9397-08002B2CF9AE}" pid="3" name="LastSaved">
    <vt:filetime>2026-03-31T16:30:00Z</vt:filetime>
  </property>
  <property fmtid="{D5CDD505-2E9C-101B-9397-08002B2CF9AE}" pid="4" name="Producer">
    <vt:lpwstr>Microsoft: Print To PDF</vt:lpwstr>
  </property>
  <property fmtid="{D5CDD505-2E9C-101B-9397-08002B2CF9AE}" pid="5" name="KSOProductBuildVer">
    <vt:lpwstr>1033-12.1.0.25242</vt:lpwstr>
  </property>
  <property fmtid="{D5CDD505-2E9C-101B-9397-08002B2CF9AE}" pid="6" name="ICV">
    <vt:lpwstr>9cca66bd28f3455ab5bd49a02020b965</vt:lpwstr>
  </property>
</Properties>
</file>