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7" r:id="rId11"/>
    <p:sldId id="264" r:id="rId12"/>
    <p:sldId id="263" r:id="rId13"/>
  </p:sldIdLst>
  <p:sldSz cx="9753600" cy="7315200"/>
  <p:notesSz cx="9753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>
        <p:scale>
          <a:sx n="73" d="100"/>
          <a:sy n="73" d="100"/>
        </p:scale>
        <p:origin x="79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343722"/>
            <a:ext cx="477520" cy="2971800"/>
          </a:xfrm>
          <a:custGeom>
            <a:avLst/>
            <a:gdLst/>
            <a:ahLst/>
            <a:cxnLst/>
            <a:rect l="l" t="t" r="r" b="b"/>
            <a:pathLst>
              <a:path w="477520" h="2971800">
                <a:moveTo>
                  <a:pt x="477037" y="2971477"/>
                </a:moveTo>
                <a:lnTo>
                  <a:pt x="0" y="2971477"/>
                </a:lnTo>
                <a:lnTo>
                  <a:pt x="0" y="0"/>
                </a:lnTo>
                <a:lnTo>
                  <a:pt x="477037" y="2971477"/>
                </a:lnTo>
                <a:close/>
              </a:path>
            </a:pathLst>
          </a:custGeom>
          <a:solidFill>
            <a:srgbClr val="5ECBEF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486235" y="-559"/>
            <a:ext cx="4267835" cy="7316470"/>
          </a:xfrm>
          <a:custGeom>
            <a:avLst/>
            <a:gdLst/>
            <a:ahLst/>
            <a:cxnLst/>
            <a:rect l="l" t="t" r="r" b="b"/>
            <a:pathLst>
              <a:path w="4267834" h="7316470">
                <a:moveTo>
                  <a:pt x="4267365" y="4466018"/>
                </a:moveTo>
                <a:lnTo>
                  <a:pt x="2987624" y="5320627"/>
                </a:lnTo>
                <a:lnTo>
                  <a:pt x="2036343" y="0"/>
                </a:lnTo>
                <a:lnTo>
                  <a:pt x="2030095" y="1117"/>
                </a:lnTo>
                <a:lnTo>
                  <a:pt x="2479675" y="2515717"/>
                </a:lnTo>
                <a:lnTo>
                  <a:pt x="2029980" y="495"/>
                </a:lnTo>
                <a:lnTo>
                  <a:pt x="2027478" y="939"/>
                </a:lnTo>
                <a:lnTo>
                  <a:pt x="2979559" y="5326024"/>
                </a:lnTo>
                <a:lnTo>
                  <a:pt x="0" y="7315759"/>
                </a:lnTo>
                <a:lnTo>
                  <a:pt x="17145" y="7315759"/>
                </a:lnTo>
                <a:lnTo>
                  <a:pt x="2981388" y="5336260"/>
                </a:lnTo>
                <a:lnTo>
                  <a:pt x="3335363" y="7315987"/>
                </a:lnTo>
                <a:lnTo>
                  <a:pt x="3337864" y="7315543"/>
                </a:lnTo>
                <a:lnTo>
                  <a:pt x="3338004" y="7316317"/>
                </a:lnTo>
                <a:lnTo>
                  <a:pt x="3344253" y="7315200"/>
                </a:lnTo>
                <a:lnTo>
                  <a:pt x="2989453" y="5330863"/>
                </a:lnTo>
                <a:lnTo>
                  <a:pt x="4267365" y="4477474"/>
                </a:lnTo>
                <a:lnTo>
                  <a:pt x="4267365" y="4466018"/>
                </a:lnTo>
                <a:close/>
              </a:path>
            </a:pathLst>
          </a:custGeom>
          <a:solidFill>
            <a:srgbClr val="5ECB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363124" y="0"/>
            <a:ext cx="2390775" cy="7315200"/>
          </a:xfrm>
          <a:custGeom>
            <a:avLst/>
            <a:gdLst/>
            <a:ahLst/>
            <a:cxnLst/>
            <a:rect l="l" t="t" r="r" b="b"/>
            <a:pathLst>
              <a:path w="2390775" h="7315200">
                <a:moveTo>
                  <a:pt x="2390475" y="7315200"/>
                </a:moveTo>
                <a:lnTo>
                  <a:pt x="0" y="7315200"/>
                </a:lnTo>
                <a:lnTo>
                  <a:pt x="2158569" y="0"/>
                </a:lnTo>
                <a:lnTo>
                  <a:pt x="2390475" y="8288"/>
                </a:lnTo>
                <a:lnTo>
                  <a:pt x="2390475" y="7315200"/>
                </a:lnTo>
                <a:close/>
              </a:path>
            </a:pathLst>
          </a:custGeom>
          <a:solidFill>
            <a:srgbClr val="5ECBEF">
              <a:alpha val="3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695921" y="0"/>
            <a:ext cx="2058035" cy="7315200"/>
          </a:xfrm>
          <a:custGeom>
            <a:avLst/>
            <a:gdLst/>
            <a:ahLst/>
            <a:cxnLst/>
            <a:rect l="l" t="t" r="r" b="b"/>
            <a:pathLst>
              <a:path w="2058034" h="7315200">
                <a:moveTo>
                  <a:pt x="2057679" y="7315199"/>
                </a:moveTo>
                <a:lnTo>
                  <a:pt x="1281057" y="7315199"/>
                </a:lnTo>
                <a:lnTo>
                  <a:pt x="0" y="0"/>
                </a:lnTo>
                <a:lnTo>
                  <a:pt x="2057679" y="0"/>
                </a:lnTo>
                <a:lnTo>
                  <a:pt x="2057679" y="7315199"/>
                </a:lnTo>
                <a:close/>
              </a:path>
            </a:pathLst>
          </a:custGeom>
          <a:solidFill>
            <a:srgbClr val="5ECBE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097152" y="4201516"/>
            <a:ext cx="2656840" cy="3114040"/>
          </a:xfrm>
          <a:custGeom>
            <a:avLst/>
            <a:gdLst/>
            <a:ahLst/>
            <a:cxnLst/>
            <a:rect l="l" t="t" r="r" b="b"/>
            <a:pathLst>
              <a:path w="2656840" h="3114040">
                <a:moveTo>
                  <a:pt x="2656447" y="3113683"/>
                </a:moveTo>
                <a:lnTo>
                  <a:pt x="0" y="3113683"/>
                </a:lnTo>
                <a:lnTo>
                  <a:pt x="2656447" y="0"/>
                </a:lnTo>
                <a:lnTo>
                  <a:pt x="2656447" y="3113683"/>
                </a:lnTo>
                <a:close/>
              </a:path>
            </a:pathLst>
          </a:custGeom>
          <a:solidFill>
            <a:srgbClr val="17B0E3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489174" y="0"/>
            <a:ext cx="2265045" cy="7315834"/>
          </a:xfrm>
          <a:custGeom>
            <a:avLst/>
            <a:gdLst/>
            <a:ahLst/>
            <a:cxnLst/>
            <a:rect l="l" t="t" r="r" b="b"/>
            <a:pathLst>
              <a:path w="2265045" h="7315834">
                <a:moveTo>
                  <a:pt x="2264428" y="7315276"/>
                </a:moveTo>
                <a:lnTo>
                  <a:pt x="1978123" y="7315199"/>
                </a:lnTo>
                <a:lnTo>
                  <a:pt x="0" y="0"/>
                </a:lnTo>
                <a:lnTo>
                  <a:pt x="2264426" y="0"/>
                </a:lnTo>
                <a:lnTo>
                  <a:pt x="2264428" y="7315276"/>
                </a:lnTo>
                <a:close/>
              </a:path>
            </a:pathLst>
          </a:custGeom>
          <a:solidFill>
            <a:srgbClr val="17B0E3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860896" y="0"/>
            <a:ext cx="892810" cy="7315200"/>
          </a:xfrm>
          <a:custGeom>
            <a:avLst/>
            <a:gdLst/>
            <a:ahLst/>
            <a:cxnLst/>
            <a:rect l="l" t="t" r="r" b="b"/>
            <a:pathLst>
              <a:path w="892809" h="7315200">
                <a:moveTo>
                  <a:pt x="892704" y="7315199"/>
                </a:moveTo>
                <a:lnTo>
                  <a:pt x="0" y="7315199"/>
                </a:lnTo>
                <a:lnTo>
                  <a:pt x="720725" y="0"/>
                </a:lnTo>
                <a:lnTo>
                  <a:pt x="892704" y="0"/>
                </a:lnTo>
                <a:lnTo>
                  <a:pt x="892704" y="7315199"/>
                </a:lnTo>
                <a:close/>
              </a:path>
            </a:pathLst>
          </a:custGeom>
          <a:solidFill>
            <a:srgbClr val="2E82C2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646008" y="0"/>
            <a:ext cx="1108075" cy="7315200"/>
          </a:xfrm>
          <a:custGeom>
            <a:avLst/>
            <a:gdLst/>
            <a:ahLst/>
            <a:cxnLst/>
            <a:rect l="l" t="t" r="r" b="b"/>
            <a:pathLst>
              <a:path w="1108075" h="7315200">
                <a:moveTo>
                  <a:pt x="1107591" y="7315199"/>
                </a:moveTo>
                <a:lnTo>
                  <a:pt x="1000274" y="7315199"/>
                </a:lnTo>
                <a:lnTo>
                  <a:pt x="0" y="0"/>
                </a:lnTo>
                <a:lnTo>
                  <a:pt x="1107591" y="0"/>
                </a:lnTo>
                <a:lnTo>
                  <a:pt x="1107591" y="7315199"/>
                </a:lnTo>
                <a:close/>
              </a:path>
            </a:pathLst>
          </a:custGeom>
          <a:solidFill>
            <a:srgbClr val="236191">
              <a:alpha val="81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621778" y="5274326"/>
            <a:ext cx="1132205" cy="2040889"/>
          </a:xfrm>
          <a:custGeom>
            <a:avLst/>
            <a:gdLst/>
            <a:ahLst/>
            <a:cxnLst/>
            <a:rect l="l" t="t" r="r" b="b"/>
            <a:pathLst>
              <a:path w="1132204" h="2040890">
                <a:moveTo>
                  <a:pt x="1131820" y="2040873"/>
                </a:moveTo>
                <a:lnTo>
                  <a:pt x="0" y="2040873"/>
                </a:lnTo>
                <a:lnTo>
                  <a:pt x="1131820" y="0"/>
                </a:lnTo>
                <a:lnTo>
                  <a:pt x="1131820" y="2040873"/>
                </a:lnTo>
                <a:close/>
              </a:path>
            </a:pathLst>
          </a:custGeom>
          <a:solidFill>
            <a:srgbClr val="17B0E3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827" y="589070"/>
            <a:ext cx="4712335" cy="556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3070" y="3348343"/>
            <a:ext cx="4967458" cy="3392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6224" y="6803136"/>
            <a:ext cx="3121152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1538" y="1917974"/>
            <a:ext cx="1920239" cy="556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SafeWave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21590" marR="5080" algn="ctr">
              <a:lnSpc>
                <a:spcPts val="3450"/>
              </a:lnSpc>
              <a:spcBef>
                <a:spcPts val="439"/>
              </a:spcBef>
            </a:pPr>
            <a:r>
              <a:rPr dirty="0"/>
              <a:t>Vaishnavi</a:t>
            </a:r>
            <a:r>
              <a:rPr spc="-65" dirty="0"/>
              <a:t> </a:t>
            </a:r>
            <a:r>
              <a:rPr dirty="0"/>
              <a:t>Sawant</a:t>
            </a:r>
            <a:r>
              <a:rPr spc="-65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spc="-10" dirty="0"/>
              <a:t>24107038 </a:t>
            </a:r>
            <a:r>
              <a:rPr dirty="0"/>
              <a:t>Preshita</a:t>
            </a:r>
            <a:r>
              <a:rPr spc="-50" dirty="0"/>
              <a:t> </a:t>
            </a:r>
            <a:r>
              <a:rPr dirty="0"/>
              <a:t>Patil</a:t>
            </a:r>
            <a:r>
              <a:rPr spc="-45" dirty="0"/>
              <a:t> </a:t>
            </a:r>
            <a:r>
              <a:rPr dirty="0"/>
              <a:t>-</a:t>
            </a:r>
            <a:r>
              <a:rPr spc="-45" dirty="0"/>
              <a:t> </a:t>
            </a:r>
            <a:r>
              <a:rPr spc="-10" dirty="0"/>
              <a:t>24107126 </a:t>
            </a:r>
            <a:r>
              <a:rPr dirty="0"/>
              <a:t>Sneha</a:t>
            </a:r>
            <a:r>
              <a:rPr spc="-65" dirty="0"/>
              <a:t> </a:t>
            </a:r>
            <a:r>
              <a:rPr dirty="0"/>
              <a:t>Shinde</a:t>
            </a:r>
            <a:r>
              <a:rPr spc="-6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spc="-10" dirty="0"/>
              <a:t>24107069 </a:t>
            </a:r>
            <a:r>
              <a:rPr dirty="0"/>
              <a:t>Hastaksh</a:t>
            </a:r>
            <a:r>
              <a:rPr spc="-70" dirty="0"/>
              <a:t> </a:t>
            </a:r>
            <a:r>
              <a:rPr dirty="0"/>
              <a:t>Reddy</a:t>
            </a:r>
            <a:r>
              <a:rPr spc="-70" dirty="0"/>
              <a:t> </a:t>
            </a:r>
            <a:r>
              <a:rPr dirty="0"/>
              <a:t>-</a:t>
            </a:r>
            <a:r>
              <a:rPr spc="-65" dirty="0"/>
              <a:t> </a:t>
            </a:r>
            <a:r>
              <a:rPr spc="-10" dirty="0"/>
              <a:t>24107134</a:t>
            </a:r>
          </a:p>
          <a:p>
            <a:pPr marL="8890">
              <a:lnSpc>
                <a:spcPct val="100000"/>
              </a:lnSpc>
              <a:spcBef>
                <a:spcPts val="3020"/>
              </a:spcBef>
            </a:pPr>
            <a:endParaRPr spc="-10" dirty="0"/>
          </a:p>
          <a:p>
            <a:pPr marL="8890" algn="ctr">
              <a:lnSpc>
                <a:spcPts val="3130"/>
              </a:lnSpc>
            </a:pPr>
            <a:r>
              <a:rPr sz="2700" dirty="0"/>
              <a:t>Project</a:t>
            </a:r>
            <a:r>
              <a:rPr sz="2700" spc="-30" dirty="0"/>
              <a:t> </a:t>
            </a:r>
            <a:r>
              <a:rPr sz="2700" spc="-20" dirty="0"/>
              <a:t>Guide</a:t>
            </a:r>
            <a:endParaRPr sz="2700" dirty="0"/>
          </a:p>
          <a:p>
            <a:pPr marL="8890" algn="ctr">
              <a:lnSpc>
                <a:spcPts val="2650"/>
              </a:lnSpc>
            </a:pPr>
            <a:r>
              <a:rPr sz="2300" dirty="0"/>
              <a:t>Ms.Ashwini</a:t>
            </a:r>
            <a:r>
              <a:rPr sz="2300" spc="120" dirty="0"/>
              <a:t> </a:t>
            </a:r>
            <a:r>
              <a:rPr sz="2300" spc="-10" dirty="0"/>
              <a:t>Parkar</a:t>
            </a:r>
            <a:endParaRPr sz="23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53599" cy="1891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3552-510E-74F8-2E0A-8596094ED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81000"/>
            <a:ext cx="8290560" cy="530915"/>
          </a:xfrm>
        </p:spPr>
        <p:txBody>
          <a:bodyPr/>
          <a:lstStyle/>
          <a:p>
            <a:r>
              <a:rPr lang="en-US" dirty="0"/>
              <a:t>Primary SDG Mapped: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D4096-6E8C-FE0E-C001-FF2E911BFEB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73117" y="1905000"/>
            <a:ext cx="7833360" cy="5093702"/>
          </a:xfrm>
        </p:spPr>
        <p:txBody>
          <a:bodyPr/>
          <a:lstStyle/>
          <a:p>
            <a:r>
              <a:rPr lang="en-US" b="0" dirty="0"/>
              <a:t>SDG 3: </a:t>
            </a:r>
            <a:r>
              <a:rPr lang="en-IN" b="0" dirty="0"/>
              <a:t>Good Health and Well-being</a:t>
            </a:r>
          </a:p>
          <a:p>
            <a:endParaRPr lang="en-IN" b="0" dirty="0"/>
          </a:p>
          <a:p>
            <a:r>
              <a:rPr lang="en-US" sz="2300" b="0" i="1" dirty="0"/>
              <a:t>“Ensure healthy lives and promote well-being for all at all ages."</a:t>
            </a:r>
            <a:endParaRPr lang="en-US" sz="2300" b="0" dirty="0"/>
          </a:p>
          <a:p>
            <a:r>
              <a:rPr lang="en-US" sz="2300" b="0" dirty="0">
                <a:sym typeface="Wingdings" panose="05000000000000000000" pitchFamily="2" charset="2"/>
              </a:rPr>
              <a:t></a:t>
            </a:r>
            <a:r>
              <a:rPr lang="en-US" sz="2300" b="0" dirty="0"/>
              <a:t>This app directly contributes to personal safety and well-being. In emergencies (accidents, health crises, unsafe situations), the ability to instantly share your location with family/friends can be life-saving. This aligns with promoting well-being for all ages — students, men, women, elderly.</a:t>
            </a:r>
          </a:p>
          <a:p>
            <a:endParaRPr lang="en-IN" sz="2300" b="0" dirty="0"/>
          </a:p>
          <a:p>
            <a:endParaRPr lang="en-IN" sz="2300" dirty="0"/>
          </a:p>
          <a:p>
            <a:endParaRPr lang="en-IN" dirty="0"/>
          </a:p>
          <a:p>
            <a:endParaRPr lang="en-US" sz="2300" b="0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8330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87123-46E9-91A2-3ED9-74A051E63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" y="762000"/>
            <a:ext cx="8290560" cy="954107"/>
          </a:xfrm>
        </p:spPr>
        <p:txBody>
          <a:bodyPr/>
          <a:lstStyle/>
          <a:p>
            <a:r>
              <a:rPr lang="en-US" sz="3100" dirty="0"/>
              <a:t>Secondary SDG: </a:t>
            </a:r>
            <a:r>
              <a:rPr lang="en-US" sz="3100" b="0" dirty="0"/>
              <a:t>SDG 11 – Sustainable Cities and Communities</a:t>
            </a:r>
            <a:endParaRPr lang="en-IN" sz="3100" b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25D329-7B9F-E6BA-AE18-E903E6EA9CF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33703" y="2286000"/>
            <a:ext cx="6827520" cy="2585323"/>
          </a:xfrm>
        </p:spPr>
        <p:txBody>
          <a:bodyPr/>
          <a:lstStyle/>
          <a:p>
            <a:r>
              <a:rPr lang="en-US" sz="2400" b="0" i="1" dirty="0"/>
              <a:t>"Make cities and human settlements inclusive, safe, resilient, and sustainable.“</a:t>
            </a:r>
          </a:p>
          <a:p>
            <a:r>
              <a:rPr lang="en-US" sz="2400" b="0" i="1" dirty="0">
                <a:sym typeface="Wingdings" panose="05000000000000000000" pitchFamily="2" charset="2"/>
              </a:rPr>
              <a:t></a:t>
            </a:r>
            <a:r>
              <a:rPr lang="en-US" sz="2400" b="0" dirty="0"/>
              <a:t>The app contributes to making communities safer by enabling quick emergency response through real-time location sharing. It supports urban safety infrastructure at a personal/community level, which is a core component of SDG 11.</a:t>
            </a:r>
            <a:endParaRPr lang="en-IN" sz="2300" b="0" i="1" dirty="0"/>
          </a:p>
        </p:txBody>
      </p:sp>
    </p:spTree>
    <p:extLst>
      <p:ext uri="{BB962C8B-B14F-4D97-AF65-F5344CB8AC3E}">
        <p14:creationId xmlns:p14="http://schemas.microsoft.com/office/powerpoint/2010/main" val="2775001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1.</a:t>
            </a:r>
            <a:r>
              <a:rPr spc="30" dirty="0"/>
              <a:t> </a:t>
            </a: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058" y="1984467"/>
            <a:ext cx="85725" cy="857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23308" y="263216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3308" y="327986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058" y="4575267"/>
            <a:ext cx="85725" cy="8572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023308" y="522296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3308" y="554681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4" y="85724"/>
                </a:moveTo>
                <a:lnTo>
                  <a:pt x="0" y="85724"/>
                </a:lnTo>
                <a:lnTo>
                  <a:pt x="0" y="0"/>
                </a:lnTo>
                <a:lnTo>
                  <a:pt x="85724" y="0"/>
                </a:lnTo>
                <a:lnTo>
                  <a:pt x="85724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77097" y="1800317"/>
            <a:ext cx="8145145" cy="42659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dirty="0">
                <a:latin typeface="Times New Roman"/>
                <a:cs typeface="Times New Roman"/>
              </a:rPr>
              <a:t>Problem</a:t>
            </a:r>
            <a:r>
              <a:rPr sz="2300" spc="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Identified</a:t>
            </a:r>
            <a:r>
              <a:rPr sz="2300" spc="90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:</a:t>
            </a:r>
            <a:endParaRPr sz="2300">
              <a:latin typeface="Times New Roman"/>
              <a:cs typeface="Times New Roman"/>
            </a:endParaRPr>
          </a:p>
          <a:p>
            <a:pPr marL="481330" marR="5080">
              <a:lnSpc>
                <a:spcPts val="2550"/>
              </a:lnSpc>
              <a:spcBef>
                <a:spcPts val="2600"/>
              </a:spcBef>
            </a:pPr>
            <a:r>
              <a:rPr sz="2300" dirty="0">
                <a:latin typeface="Times New Roman"/>
                <a:cs typeface="Times New Roman"/>
              </a:rPr>
              <a:t>SafeWave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mobile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safety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application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developed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using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Java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in </a:t>
            </a:r>
            <a:r>
              <a:rPr sz="2300" dirty="0">
                <a:latin typeface="Times New Roman"/>
                <a:cs typeface="Times New Roman"/>
              </a:rPr>
              <a:t>Android</a:t>
            </a:r>
            <a:r>
              <a:rPr sz="2300" spc="8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Studio.</a:t>
            </a:r>
            <a:endParaRPr sz="2300">
              <a:latin typeface="Times New Roman"/>
              <a:cs typeface="Times New Roman"/>
            </a:endParaRPr>
          </a:p>
          <a:p>
            <a:pPr marL="481330" marR="349250">
              <a:lnSpc>
                <a:spcPts val="2550"/>
              </a:lnSpc>
            </a:pPr>
            <a:r>
              <a:rPr sz="2300" dirty="0">
                <a:latin typeface="Times New Roman"/>
                <a:cs typeface="Times New Roman"/>
              </a:rPr>
              <a:t>It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helps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users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quickly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send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emergency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alerts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saved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contacts </a:t>
            </a:r>
            <a:r>
              <a:rPr sz="2300" dirty="0">
                <a:latin typeface="Times New Roman"/>
                <a:cs typeface="Times New Roman"/>
              </a:rPr>
              <a:t>during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dangerous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situations.</a:t>
            </a: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latin typeface="Times New Roman"/>
                <a:cs typeface="Times New Roman"/>
              </a:rPr>
              <a:t>Solution</a:t>
            </a:r>
            <a:r>
              <a:rPr sz="2300" spc="8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Proposed</a:t>
            </a:r>
            <a:r>
              <a:rPr sz="2300" spc="85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:</a:t>
            </a:r>
            <a:endParaRPr sz="2300">
              <a:latin typeface="Times New Roman"/>
              <a:cs typeface="Times New Roman"/>
            </a:endParaRPr>
          </a:p>
          <a:p>
            <a:pPr marL="481330" marR="77470">
              <a:lnSpc>
                <a:spcPts val="2550"/>
              </a:lnSpc>
              <a:spcBef>
                <a:spcPts val="2600"/>
              </a:spcBef>
            </a:pP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SafeWave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app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allows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users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save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emergency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contacts. </a:t>
            </a:r>
            <a:r>
              <a:rPr sz="2300" dirty="0">
                <a:latin typeface="Times New Roman"/>
                <a:cs typeface="Times New Roman"/>
              </a:rPr>
              <a:t>With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click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on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SOS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button,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alert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message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sent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all </a:t>
            </a:r>
            <a:r>
              <a:rPr sz="2300" dirty="0">
                <a:latin typeface="Times New Roman"/>
                <a:cs typeface="Times New Roman"/>
              </a:rPr>
              <a:t>saved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contacts.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2.</a:t>
            </a:r>
            <a:r>
              <a:rPr spc="3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525" y="2447110"/>
            <a:ext cx="8239125" cy="2383344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62255" marR="857885" indent="-250190">
              <a:lnSpc>
                <a:spcPts val="2550"/>
              </a:lnSpc>
              <a:spcBef>
                <a:spcPts val="384"/>
              </a:spcBef>
              <a:buAutoNum type="arabicPeriod"/>
              <a:tabLst>
                <a:tab pos="263525" algn="l"/>
              </a:tabLst>
            </a:pP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develop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mobile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safety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application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that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helps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users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send 	</a:t>
            </a:r>
            <a:r>
              <a:rPr sz="2300" dirty="0">
                <a:latin typeface="Times New Roman"/>
                <a:cs typeface="Times New Roman"/>
              </a:rPr>
              <a:t>emergency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alerts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quickly.</a:t>
            </a:r>
            <a:endParaRPr sz="2300" dirty="0">
              <a:latin typeface="Times New Roman"/>
              <a:cs typeface="Times New Roman"/>
            </a:endParaRPr>
          </a:p>
          <a:p>
            <a:pPr marL="262255" marR="5080" indent="-250190">
              <a:lnSpc>
                <a:spcPts val="2550"/>
              </a:lnSpc>
              <a:spcBef>
                <a:spcPts val="2550"/>
              </a:spcBef>
              <a:buAutoNum type="arabicPeriod"/>
              <a:tabLst>
                <a:tab pos="263525" algn="l"/>
              </a:tabLst>
            </a:pP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provide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simple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SOS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feature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that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sends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alert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messages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saved 	</a:t>
            </a:r>
            <a:r>
              <a:rPr sz="2300" dirty="0">
                <a:latin typeface="Times New Roman"/>
                <a:cs typeface="Times New Roman"/>
              </a:rPr>
              <a:t>contacts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during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dangerous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situations.</a:t>
            </a:r>
            <a:endParaRPr lang="en-US" sz="2300" spc="-10" dirty="0">
              <a:latin typeface="Times New Roman"/>
              <a:cs typeface="Times New Roman"/>
            </a:endParaRPr>
          </a:p>
          <a:p>
            <a:pPr marL="12065" marR="5080">
              <a:lnSpc>
                <a:spcPts val="2550"/>
              </a:lnSpc>
              <a:spcBef>
                <a:spcPts val="2550"/>
              </a:spcBef>
              <a:tabLst>
                <a:tab pos="263525" algn="l"/>
              </a:tabLst>
            </a:pPr>
            <a:r>
              <a:rPr lang="en-US" sz="2300" dirty="0">
                <a:latin typeface="Times New Roman"/>
                <a:cs typeface="Times New Roman"/>
              </a:rPr>
              <a:t>3. To provide accurate location Data.</a:t>
            </a:r>
            <a:endParaRPr sz="23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3.</a:t>
            </a:r>
            <a:r>
              <a:rPr spc="30" dirty="0"/>
              <a:t> </a:t>
            </a:r>
            <a:r>
              <a:rPr spc="-10" dirty="0"/>
              <a:t>Scope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2529" y="2348037"/>
            <a:ext cx="8378825" cy="167513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62255" marR="5080" indent="-250190">
              <a:lnSpc>
                <a:spcPts val="2550"/>
              </a:lnSpc>
              <a:spcBef>
                <a:spcPts val="384"/>
              </a:spcBef>
              <a:buAutoNum type="arabicPeriod"/>
              <a:tabLst>
                <a:tab pos="263525" algn="l"/>
              </a:tabLst>
            </a:pP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used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by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students,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parents,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individuals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send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emergency 	</a:t>
            </a:r>
            <a:r>
              <a:rPr sz="2300" dirty="0">
                <a:latin typeface="Times New Roman"/>
                <a:cs typeface="Times New Roman"/>
              </a:rPr>
              <a:t>alerts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quickly.</a:t>
            </a:r>
            <a:endParaRPr sz="2300">
              <a:latin typeface="Times New Roman"/>
              <a:cs typeface="Times New Roman"/>
            </a:endParaRPr>
          </a:p>
          <a:p>
            <a:pPr marL="262255" marR="242570" indent="-250190">
              <a:lnSpc>
                <a:spcPts val="2550"/>
              </a:lnSpc>
              <a:spcBef>
                <a:spcPts val="2550"/>
              </a:spcBef>
              <a:buAutoNum type="arabicPeriod"/>
              <a:tabLst>
                <a:tab pos="263525" algn="l"/>
              </a:tabLst>
            </a:pP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applied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situations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where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person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needs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inform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others 	</a:t>
            </a:r>
            <a:r>
              <a:rPr sz="2300" dirty="0">
                <a:latin typeface="Times New Roman"/>
                <a:cs typeface="Times New Roman"/>
              </a:rPr>
              <a:t>about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danger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or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seek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immediate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help.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4.</a:t>
            </a:r>
            <a:r>
              <a:rPr spc="20" dirty="0"/>
              <a:t> </a:t>
            </a:r>
            <a:r>
              <a:rPr dirty="0"/>
              <a:t>Feature</a:t>
            </a:r>
            <a:r>
              <a:rPr spc="15" dirty="0"/>
              <a:t> </a:t>
            </a:r>
            <a:r>
              <a:rPr spc="-10" dirty="0"/>
              <a:t>/Functionality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69" y="2247389"/>
            <a:ext cx="85725" cy="857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69" y="2571239"/>
            <a:ext cx="85725" cy="857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69" y="3542789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69" y="4190489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69" y="5162039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969" y="5485889"/>
            <a:ext cx="85725" cy="85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12569" y="1739389"/>
            <a:ext cx="7973059" cy="39420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07340" indent="-294640">
              <a:lnSpc>
                <a:spcPts val="2655"/>
              </a:lnSpc>
              <a:spcBef>
                <a:spcPts val="125"/>
              </a:spcBef>
              <a:buAutoNum type="arabicPeriod"/>
              <a:tabLst>
                <a:tab pos="307340" algn="l"/>
              </a:tabLst>
            </a:pPr>
            <a:r>
              <a:rPr sz="2300" dirty="0">
                <a:latin typeface="Times New Roman"/>
                <a:cs typeface="Times New Roman"/>
              </a:rPr>
              <a:t>Save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Emergency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Contacts</a:t>
            </a:r>
            <a:endParaRPr sz="2300">
              <a:latin typeface="Times New Roman"/>
              <a:cs typeface="Times New Roman"/>
            </a:endParaRPr>
          </a:p>
          <a:p>
            <a:pPr marL="514350" marR="38100">
              <a:lnSpc>
                <a:spcPts val="2550"/>
              </a:lnSpc>
              <a:spcBef>
                <a:spcPts val="155"/>
              </a:spcBef>
            </a:pPr>
            <a:r>
              <a:rPr sz="2300" dirty="0">
                <a:latin typeface="Times New Roman"/>
                <a:cs typeface="Times New Roman"/>
              </a:rPr>
              <a:t>Users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save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important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contact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numbers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application. </a:t>
            </a:r>
            <a:r>
              <a:rPr sz="2300" dirty="0">
                <a:latin typeface="Times New Roman"/>
                <a:cs typeface="Times New Roman"/>
              </a:rPr>
              <a:t>These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contacts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will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receive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alerts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during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emergency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situations.</a:t>
            </a:r>
            <a:endParaRPr sz="2300">
              <a:latin typeface="Times New Roman"/>
              <a:cs typeface="Times New Roman"/>
            </a:endParaRPr>
          </a:p>
          <a:p>
            <a:pPr marL="307340" indent="-294640">
              <a:lnSpc>
                <a:spcPts val="2655"/>
              </a:lnSpc>
              <a:spcBef>
                <a:spcPts val="2290"/>
              </a:spcBef>
              <a:buAutoNum type="arabicPeriod" startAt="2"/>
              <a:tabLst>
                <a:tab pos="307340" algn="l"/>
              </a:tabLst>
            </a:pPr>
            <a:r>
              <a:rPr sz="2300" dirty="0">
                <a:latin typeface="Times New Roman"/>
                <a:cs typeface="Times New Roman"/>
              </a:rPr>
              <a:t>SOS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Alert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Message</a:t>
            </a:r>
            <a:endParaRPr sz="2300">
              <a:latin typeface="Times New Roman"/>
              <a:cs typeface="Times New Roman"/>
            </a:endParaRPr>
          </a:p>
          <a:p>
            <a:pPr marL="514350" marR="5080">
              <a:lnSpc>
                <a:spcPts val="2550"/>
              </a:lnSpc>
              <a:spcBef>
                <a:spcPts val="155"/>
              </a:spcBef>
            </a:pP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SOS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button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sends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emergency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alert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message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all</a:t>
            </a:r>
            <a:r>
              <a:rPr sz="2300" spc="2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saved contacts.</a:t>
            </a:r>
            <a:endParaRPr sz="2300">
              <a:latin typeface="Times New Roman"/>
              <a:cs typeface="Times New Roman"/>
            </a:endParaRPr>
          </a:p>
          <a:p>
            <a:pPr marL="514350">
              <a:lnSpc>
                <a:spcPts val="2500"/>
              </a:lnSpc>
            </a:pPr>
            <a:r>
              <a:rPr sz="2300" dirty="0">
                <a:latin typeface="Times New Roman"/>
                <a:cs typeface="Times New Roman"/>
              </a:rPr>
              <a:t>It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helps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users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quickly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inform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others</a:t>
            </a:r>
            <a:r>
              <a:rPr sz="2300" spc="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when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they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danger.</a:t>
            </a:r>
            <a:endParaRPr sz="2300">
              <a:latin typeface="Times New Roman"/>
              <a:cs typeface="Times New Roman"/>
            </a:endParaRPr>
          </a:p>
          <a:p>
            <a:pPr marL="307340" indent="-294640">
              <a:lnSpc>
                <a:spcPts val="2655"/>
              </a:lnSpc>
              <a:spcBef>
                <a:spcPts val="2340"/>
              </a:spcBef>
              <a:buAutoNum type="arabicPeriod" startAt="3"/>
              <a:tabLst>
                <a:tab pos="307340" algn="l"/>
              </a:tabLst>
            </a:pPr>
            <a:r>
              <a:rPr sz="2300" dirty="0">
                <a:latin typeface="Times New Roman"/>
                <a:cs typeface="Times New Roman"/>
              </a:rPr>
              <a:t>View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Manage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Contacts</a:t>
            </a:r>
            <a:endParaRPr sz="2300">
              <a:latin typeface="Times New Roman"/>
              <a:cs typeface="Times New Roman"/>
            </a:endParaRPr>
          </a:p>
          <a:p>
            <a:pPr marL="514350" marR="653415">
              <a:lnSpc>
                <a:spcPts val="2550"/>
              </a:lnSpc>
              <a:spcBef>
                <a:spcPts val="155"/>
              </a:spcBef>
            </a:pPr>
            <a:r>
              <a:rPr sz="2300" dirty="0">
                <a:latin typeface="Times New Roman"/>
                <a:cs typeface="Times New Roman"/>
              </a:rPr>
              <a:t>Users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view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all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saved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contacts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application. </a:t>
            </a:r>
            <a:r>
              <a:rPr sz="2300" dirty="0">
                <a:latin typeface="Times New Roman"/>
                <a:cs typeface="Times New Roman"/>
              </a:rPr>
              <a:t>Contacts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also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deleted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if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they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longer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needed.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5.</a:t>
            </a:r>
            <a:r>
              <a:rPr spc="15" dirty="0"/>
              <a:t> </a:t>
            </a:r>
            <a:r>
              <a:rPr dirty="0"/>
              <a:t>Outcome</a:t>
            </a:r>
            <a:r>
              <a:rPr spc="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525" y="2085671"/>
            <a:ext cx="8131809" cy="2970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62890" indent="-250190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262890" algn="l"/>
              </a:tabLst>
            </a:pPr>
            <a:r>
              <a:rPr sz="2300" dirty="0">
                <a:latin typeface="Times New Roman"/>
                <a:cs typeface="Times New Roman"/>
              </a:rPr>
              <a:t>User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save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emergency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contact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numbers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application.</a:t>
            </a:r>
            <a:endParaRPr sz="2300">
              <a:latin typeface="Times New Roman"/>
              <a:cs typeface="Times New Roman"/>
            </a:endParaRPr>
          </a:p>
          <a:p>
            <a:pPr marL="262255" marR="5080" indent="-250190">
              <a:lnSpc>
                <a:spcPts val="2550"/>
              </a:lnSpc>
              <a:spcBef>
                <a:spcPts val="2600"/>
              </a:spcBef>
              <a:buAutoNum type="arabicPeriod"/>
              <a:tabLst>
                <a:tab pos="263525" algn="l"/>
              </a:tabLst>
            </a:pPr>
            <a:r>
              <a:rPr sz="2300" dirty="0">
                <a:latin typeface="Times New Roman"/>
                <a:cs typeface="Times New Roman"/>
              </a:rPr>
              <a:t>User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send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SOS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alert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message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all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saved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contacts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with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one 	</a:t>
            </a:r>
            <a:r>
              <a:rPr sz="2300" spc="-10" dirty="0">
                <a:latin typeface="Times New Roman"/>
                <a:cs typeface="Times New Roman"/>
              </a:rPr>
              <a:t>click.</a:t>
            </a:r>
            <a:endParaRPr sz="2300">
              <a:latin typeface="Times New Roman"/>
              <a:cs typeface="Times New Roman"/>
            </a:endParaRPr>
          </a:p>
          <a:p>
            <a:pPr marL="262890" indent="-250190">
              <a:lnSpc>
                <a:spcPct val="100000"/>
              </a:lnSpc>
              <a:spcBef>
                <a:spcPts val="2290"/>
              </a:spcBef>
              <a:buAutoNum type="arabicPeriod"/>
              <a:tabLst>
                <a:tab pos="262890" algn="l"/>
              </a:tabLst>
            </a:pPr>
            <a:r>
              <a:rPr sz="2300" dirty="0">
                <a:latin typeface="Times New Roman"/>
                <a:cs typeface="Times New Roman"/>
              </a:rPr>
              <a:t>User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view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manage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saved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contacts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easily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within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20" dirty="0">
                <a:latin typeface="Times New Roman"/>
                <a:cs typeface="Times New Roman"/>
              </a:rPr>
              <a:t>app.</a:t>
            </a:r>
            <a:endParaRPr sz="2300">
              <a:latin typeface="Times New Roman"/>
              <a:cs typeface="Times New Roman"/>
            </a:endParaRPr>
          </a:p>
          <a:p>
            <a:pPr marL="262255" marR="742315" indent="-250190">
              <a:lnSpc>
                <a:spcPts val="2550"/>
              </a:lnSpc>
              <a:spcBef>
                <a:spcPts val="2600"/>
              </a:spcBef>
              <a:buAutoNum type="arabicPeriod"/>
              <a:tabLst>
                <a:tab pos="263525" algn="l"/>
              </a:tabLst>
            </a:pP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application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will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help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users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quickly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inform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others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during 	</a:t>
            </a:r>
            <a:r>
              <a:rPr sz="2300" dirty="0">
                <a:latin typeface="Times New Roman"/>
                <a:cs typeface="Times New Roman"/>
              </a:rPr>
              <a:t>emergency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situations.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6.</a:t>
            </a:r>
            <a:r>
              <a:rPr spc="105" dirty="0"/>
              <a:t> </a:t>
            </a:r>
            <a:r>
              <a:rPr dirty="0"/>
              <a:t>Technology</a:t>
            </a:r>
            <a:r>
              <a:rPr spc="100" dirty="0"/>
              <a:t> </a:t>
            </a:r>
            <a:r>
              <a:rPr spc="-10" dirty="0"/>
              <a:t>Stack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000" y="2040264"/>
            <a:ext cx="85725" cy="857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4449" y="1856114"/>
            <a:ext cx="8217534" cy="1998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00" dirty="0">
                <a:latin typeface="Times New Roman"/>
                <a:cs typeface="Times New Roman"/>
              </a:rPr>
              <a:t>Frontend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(GUI):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XML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designing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user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interface.</a:t>
            </a:r>
            <a:endParaRPr sz="2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sz="2300" dirty="0">
                <a:latin typeface="Times New Roman"/>
                <a:cs typeface="Times New Roman"/>
              </a:rPr>
              <a:t>Backend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/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Programming: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Java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application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logic</a:t>
            </a:r>
            <a:r>
              <a:rPr sz="2300" spc="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functionality.</a:t>
            </a:r>
            <a:endParaRPr sz="2300" dirty="0">
              <a:latin typeface="Times New Roman"/>
              <a:cs typeface="Times New Roman"/>
            </a:endParaRPr>
          </a:p>
          <a:p>
            <a:pPr marL="12700" marR="716915">
              <a:lnSpc>
                <a:spcPts val="2550"/>
              </a:lnSpc>
              <a:spcBef>
                <a:spcPts val="2600"/>
              </a:spcBef>
            </a:pPr>
            <a:r>
              <a:rPr sz="2300" dirty="0">
                <a:latin typeface="Times New Roman"/>
                <a:cs typeface="Times New Roman"/>
              </a:rPr>
              <a:t>Development</a:t>
            </a:r>
            <a:r>
              <a:rPr sz="2300" spc="6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Tool: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Android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Studio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building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and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testing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spc="-25" dirty="0">
                <a:latin typeface="Times New Roman"/>
                <a:cs typeface="Times New Roman"/>
              </a:rPr>
              <a:t>the </a:t>
            </a:r>
            <a:r>
              <a:rPr sz="2300" dirty="0">
                <a:latin typeface="Times New Roman"/>
                <a:cs typeface="Times New Roman"/>
              </a:rPr>
              <a:t>mobile</a:t>
            </a:r>
            <a:r>
              <a:rPr sz="2300" spc="6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application.</a:t>
            </a:r>
            <a:endParaRPr sz="23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000" y="2687964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000" y="3335663"/>
            <a:ext cx="85725" cy="857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0C1AB1-4E9B-15B8-EAA5-2B52F721FF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832917"/>
            <a:ext cx="2895599" cy="64507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713E97-7595-47DE-E61C-7F835B3418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760" y="848683"/>
            <a:ext cx="2822839" cy="628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21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487A5-B4D7-154E-CEDC-AE4D30AC1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827" y="589070"/>
            <a:ext cx="4712335" cy="530915"/>
          </a:xfrm>
        </p:spPr>
        <p:txBody>
          <a:bodyPr/>
          <a:lstStyle/>
          <a:p>
            <a:r>
              <a:rPr lang="en-US" dirty="0"/>
              <a:t>Block Diagram: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EAF77-FC75-1C6B-6754-45BFBA448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20EFF-707B-400E-A5D5-ADD3FE2A7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29540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41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2543" y="3258927"/>
            <a:ext cx="2658110" cy="556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0" dirty="0">
                <a:latin typeface="Times New Roman"/>
                <a:cs typeface="Times New Roman"/>
              </a:rPr>
              <a:t>Thank</a:t>
            </a:r>
            <a:r>
              <a:rPr b="0" spc="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You...!!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vsphminireview2</Template>
  <TotalTime>23</TotalTime>
  <Words>496</Words>
  <Application>Microsoft Office PowerPoint</Application>
  <PresentationFormat>Custom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Times New Roman</vt:lpstr>
      <vt:lpstr>Wingdings</vt:lpstr>
      <vt:lpstr>Office Theme</vt:lpstr>
      <vt:lpstr>SafeWave</vt:lpstr>
      <vt:lpstr>Primary SDG Mapped:</vt:lpstr>
      <vt:lpstr>Secondary SDG: SDG 11 – Sustainable Cities and Communities</vt:lpstr>
      <vt:lpstr>1. Introduction</vt:lpstr>
      <vt:lpstr>2. Objectives</vt:lpstr>
      <vt:lpstr>3. Scope</vt:lpstr>
      <vt:lpstr>4. Feature /Functionality</vt:lpstr>
      <vt:lpstr>5. Outcome of Project</vt:lpstr>
      <vt:lpstr>6. Technology Stack</vt:lpstr>
      <vt:lpstr>PowerPoint Presentation</vt:lpstr>
      <vt:lpstr>Block Diagram:</vt:lpstr>
      <vt:lpstr>Thank You...!!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Brijesh Patil</dc:creator>
  <cp:keywords>DAHDF1p8kwk,BAGfXs3bfKE,0</cp:keywords>
  <cp:lastModifiedBy>Brijesh Patil</cp:lastModifiedBy>
  <cp:revision>2</cp:revision>
  <dcterms:created xsi:type="dcterms:W3CDTF">2026-03-31T08:03:56Z</dcterms:created>
  <dcterms:modified xsi:type="dcterms:W3CDTF">2026-04-01T03:19:53Z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2026-03-05T00:00:00Z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2026-03-05T00:00:00Z</vt:filetime>
  </property>
  <property fmtid="{D5CDD505-2E9C-101B-9397-08002B2CF9AE}" pid="5" name="Producer">
    <vt:lpwstr>Canva</vt:lpwstr>
  </property>
</Properties>
</file>